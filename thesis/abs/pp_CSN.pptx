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5" autoAdjust="0"/>
    <p:restoredTop sz="94660"/>
  </p:normalViewPr>
  <p:slideViewPr>
    <p:cSldViewPr snapToGrid="0">
      <p:cViewPr>
        <p:scale>
          <a:sx n="60" d="100"/>
          <a:sy n="60" d="100"/>
        </p:scale>
        <p:origin x="1325" y="6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381BA1-55A0-4101-92F3-D7F573AFE65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073F50-11A5-4076-B0B2-C6CE330E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40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AE6F-0753-4C4F-9BBE-94FA2192A9FC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1B53-C01E-4E9C-B4AD-F2435DBC5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00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AE6F-0753-4C4F-9BBE-94FA2192A9FC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1B53-C01E-4E9C-B4AD-F2435DBC5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0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AE6F-0753-4C4F-9BBE-94FA2192A9FC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1B53-C01E-4E9C-B4AD-F2435DBC5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78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AE6F-0753-4C4F-9BBE-94FA2192A9FC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1B53-C01E-4E9C-B4AD-F2435DBC5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575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AE6F-0753-4C4F-9BBE-94FA2192A9FC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1B53-C01E-4E9C-B4AD-F2435DBC5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131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AE6F-0753-4C4F-9BBE-94FA2192A9FC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1B53-C01E-4E9C-B4AD-F2435DBC5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941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AE6F-0753-4C4F-9BBE-94FA2192A9FC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1B53-C01E-4E9C-B4AD-F2435DBC5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757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AE6F-0753-4C4F-9BBE-94FA2192A9FC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1B53-C01E-4E9C-B4AD-F2435DBC5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66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AE6F-0753-4C4F-9BBE-94FA2192A9FC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1B53-C01E-4E9C-B4AD-F2435DBC5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89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AE6F-0753-4C4F-9BBE-94FA2192A9FC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1B53-C01E-4E9C-B4AD-F2435DBC5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427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AE6F-0753-4C4F-9BBE-94FA2192A9FC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1B53-C01E-4E9C-B4AD-F2435DBC5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869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6AE6F-0753-4C4F-9BBE-94FA2192A9FC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681B53-C01E-4E9C-B4AD-F2435DBC5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654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3;p12"/>
          <p:cNvSpPr/>
          <p:nvPr/>
        </p:nvSpPr>
        <p:spPr>
          <a:xfrm>
            <a:off x="273090" y="599579"/>
            <a:ext cx="6583162" cy="2077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"/>
              <a:buNone/>
            </a:pPr>
            <a:r>
              <a:rPr lang="en-US" sz="4000" b="0" i="0" u="none" strike="noStrike" cap="none" dirty="0">
                <a:solidFill>
                  <a:srgbClr val="373B48"/>
                </a:solidFill>
                <a:latin typeface="Times New Roman" panose="02020603050405020304" pitchFamily="18" charset="0"/>
                <a:ea typeface="Mona Sans"/>
                <a:cs typeface="Times New Roman" panose="02020603050405020304" pitchFamily="18" charset="0"/>
                <a:sym typeface="Mona Sans"/>
              </a:rPr>
              <a:t>PHÁT TRIỂN WEBSITE TĨNH BÁN TRANG SỨC VỚI DỮ LIỆU </a:t>
            </a:r>
            <a:r>
              <a:rPr lang="vi-VN" sz="4000" b="0" i="0" u="none" strike="noStrike" cap="none" dirty="0" smtClean="0">
                <a:solidFill>
                  <a:srgbClr val="373B48"/>
                </a:solidFill>
                <a:latin typeface="Times New Roman" panose="02020603050405020304" pitchFamily="18" charset="0"/>
                <a:ea typeface="Mona Sans"/>
                <a:cs typeface="Times New Roman" panose="02020603050405020304" pitchFamily="18" charset="0"/>
                <a:sym typeface="Mona Sans"/>
              </a:rPr>
              <a:t>DI </a:t>
            </a:r>
            <a:r>
              <a:rPr lang="en-US" sz="4000" b="0" i="0" u="none" strike="noStrike" cap="none" dirty="0" smtClean="0">
                <a:solidFill>
                  <a:srgbClr val="373B48"/>
                </a:solidFill>
                <a:latin typeface="Times New Roman" panose="02020603050405020304" pitchFamily="18" charset="0"/>
                <a:ea typeface="Mona Sans"/>
                <a:cs typeface="Times New Roman" panose="02020603050405020304" pitchFamily="18" charset="0"/>
                <a:sym typeface="Mona Sans"/>
              </a:rPr>
              <a:t>ĐỘNG </a:t>
            </a:r>
            <a:r>
              <a:rPr lang="en-US" sz="4000" b="0" i="0" u="none" strike="noStrike" cap="none" dirty="0">
                <a:solidFill>
                  <a:srgbClr val="373B48"/>
                </a:solidFill>
                <a:latin typeface="Times New Roman" panose="02020603050405020304" pitchFamily="18" charset="0"/>
                <a:ea typeface="Mona Sans"/>
                <a:cs typeface="Times New Roman" panose="02020603050405020304" pitchFamily="18" charset="0"/>
                <a:sym typeface="Mona Sans"/>
              </a:rPr>
              <a:t>TỪ API JSON</a:t>
            </a:r>
            <a:endParaRPr sz="4000" b="0" i="0" u="none" strike="noStrike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54;p12"/>
          <p:cNvSpPr/>
          <p:nvPr/>
        </p:nvSpPr>
        <p:spPr>
          <a:xfrm>
            <a:off x="565191" y="3581796"/>
            <a:ext cx="5657810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Sinh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viên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thực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hiện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: </a:t>
            </a:r>
            <a:r>
              <a:rPr lang="en-US" sz="175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Trần</a:t>
            </a:r>
            <a:r>
              <a:rPr lang="en-US" sz="175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Thị</a:t>
            </a:r>
            <a:r>
              <a:rPr lang="en-US" sz="175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Yến</a:t>
            </a:r>
            <a:r>
              <a:rPr lang="en-US" sz="175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vi-VN" sz="1750" b="1" i="0" u="none" strike="noStrike" cap="none" dirty="0" smtClean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Khoa-110123020</a:t>
            </a:r>
            <a:endParaRPr sz="1750" b="0" i="0" u="none" strike="noStrike" cap="none" dirty="0"/>
          </a:p>
        </p:txBody>
      </p:sp>
      <p:sp>
        <p:nvSpPr>
          <p:cNvPr id="7" name="Google Shape;55;p12"/>
          <p:cNvSpPr/>
          <p:nvPr/>
        </p:nvSpPr>
        <p:spPr>
          <a:xfrm>
            <a:off x="565189" y="4215427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Môn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học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: </a:t>
            </a:r>
            <a:r>
              <a:rPr lang="en-US" sz="175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Đồ</a:t>
            </a:r>
            <a:r>
              <a:rPr lang="en-US" sz="175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án</a:t>
            </a:r>
            <a:r>
              <a:rPr lang="en-US" sz="175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cơ</a:t>
            </a:r>
            <a:r>
              <a:rPr lang="en-US" sz="175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sở</a:t>
            </a:r>
            <a:r>
              <a:rPr lang="en-US" sz="175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ngành</a:t>
            </a:r>
            <a:endParaRPr sz="1750" b="0" i="0" u="none" strike="noStrike" cap="none" dirty="0"/>
          </a:p>
        </p:txBody>
      </p:sp>
      <p:sp>
        <p:nvSpPr>
          <p:cNvPr id="8" name="Google Shape;56;p12"/>
          <p:cNvSpPr/>
          <p:nvPr/>
        </p:nvSpPr>
        <p:spPr>
          <a:xfrm>
            <a:off x="565189" y="4849058"/>
            <a:ext cx="5454612" cy="434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Giảng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viên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hướng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dẫn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: </a:t>
            </a:r>
            <a:r>
              <a:rPr lang="vi-VN" sz="1750" dirty="0" smtClean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Phạm Thị Trúc Mai</a:t>
            </a:r>
            <a:endParaRPr sz="1750" b="0" i="0" u="none" strike="noStrike" cap="none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752" y="0"/>
            <a:ext cx="51452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526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3;p13"/>
          <p:cNvSpPr/>
          <p:nvPr/>
        </p:nvSpPr>
        <p:spPr>
          <a:xfrm>
            <a:off x="209590" y="19224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"/>
              <a:buNone/>
            </a:pPr>
            <a:r>
              <a:rPr lang="en-US" sz="445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Lý</a:t>
            </a:r>
            <a:r>
              <a:rPr lang="en-US" sz="445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do </a:t>
            </a:r>
            <a:r>
              <a:rPr lang="en-US" sz="445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chọn</a:t>
            </a:r>
            <a:r>
              <a:rPr lang="en-US" sz="445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445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đề</a:t>
            </a:r>
            <a:r>
              <a:rPr lang="en-US" sz="445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445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tài</a:t>
            </a:r>
            <a:endParaRPr sz="4450" b="0" i="0" u="none" strike="noStrike" cap="none" dirty="0"/>
          </a:p>
        </p:txBody>
      </p:sp>
      <p:sp>
        <p:nvSpPr>
          <p:cNvPr id="5" name="Google Shape;64;p13"/>
          <p:cNvSpPr/>
          <p:nvPr/>
        </p:nvSpPr>
        <p:spPr>
          <a:xfrm>
            <a:off x="209590" y="135465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4E9"/>
          </a:solidFill>
          <a:ln w="952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Google Shape;65;p1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2184" y="1439664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66;p13"/>
          <p:cNvSpPr/>
          <p:nvPr/>
        </p:nvSpPr>
        <p:spPr>
          <a:xfrm>
            <a:off x="833300" y="1277103"/>
            <a:ext cx="3273610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lang="en-US" sz="220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Thương</a:t>
            </a:r>
            <a:r>
              <a:rPr lang="en-US" sz="220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20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mại</a:t>
            </a:r>
            <a:r>
              <a:rPr lang="en-US" sz="220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20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điện</a:t>
            </a:r>
            <a:r>
              <a:rPr lang="en-US" sz="220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20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tử</a:t>
            </a:r>
            <a:r>
              <a:rPr lang="en-US" sz="220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20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bùng</a:t>
            </a:r>
            <a:r>
              <a:rPr lang="en-US" sz="220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20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nổ</a:t>
            </a:r>
            <a:endParaRPr sz="2200" b="0" i="0" u="none" strike="noStrike" cap="none" dirty="0"/>
          </a:p>
        </p:txBody>
      </p:sp>
      <p:sp>
        <p:nvSpPr>
          <p:cNvPr id="8" name="Google Shape;67;p13"/>
          <p:cNvSpPr/>
          <p:nvPr/>
        </p:nvSpPr>
        <p:spPr>
          <a:xfrm>
            <a:off x="946706" y="2277269"/>
            <a:ext cx="3421499" cy="181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lang="en-US" sz="1750" b="0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Sự phát triển mạnh mẽ của thương mại điện tử (TMĐT) đã đưa website bán hàng trở thành công cụ không thể thiếu cho mọi doanh nghiệp.</a:t>
            </a:r>
            <a:endParaRPr sz="1750" b="0" i="0" u="none" strike="noStrike" cap="none"/>
          </a:p>
        </p:txBody>
      </p:sp>
      <p:sp>
        <p:nvSpPr>
          <p:cNvPr id="9" name="Google Shape;68;p13"/>
          <p:cNvSpPr/>
          <p:nvPr/>
        </p:nvSpPr>
        <p:spPr>
          <a:xfrm>
            <a:off x="4396542" y="128666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4E9"/>
          </a:solidFill>
          <a:ln w="952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Google Shape;69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4650" y="1403211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70;p13"/>
          <p:cNvSpPr/>
          <p:nvPr/>
        </p:nvSpPr>
        <p:spPr>
          <a:xfrm>
            <a:off x="5020251" y="1156294"/>
            <a:ext cx="2917250" cy="82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lang="en-US" sz="220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Thách</a:t>
            </a:r>
            <a:r>
              <a:rPr lang="en-US" sz="220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20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thức</a:t>
            </a:r>
            <a:r>
              <a:rPr lang="en-US" sz="220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20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cho</a:t>
            </a:r>
            <a:r>
              <a:rPr lang="en-US" sz="220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20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doanh</a:t>
            </a:r>
            <a:r>
              <a:rPr lang="en-US" sz="220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20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nghiệp</a:t>
            </a:r>
            <a:r>
              <a:rPr lang="en-US" sz="220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20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nhỏ</a:t>
            </a:r>
            <a:endParaRPr sz="2200" b="0" i="0" u="none" strike="noStrike" cap="none" dirty="0"/>
          </a:p>
        </p:txBody>
      </p:sp>
      <p:sp>
        <p:nvSpPr>
          <p:cNvPr id="12" name="Google Shape;71;p13"/>
          <p:cNvSpPr/>
          <p:nvPr/>
        </p:nvSpPr>
        <p:spPr>
          <a:xfrm>
            <a:off x="4881524" y="2344241"/>
            <a:ext cx="3421499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Các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doanh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nghiệp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nhỏ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startup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thường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gặp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khó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khăn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về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nguồn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lực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để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xây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dựng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duy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trì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hệ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thống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backend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phức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tạp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750" b="0" i="0" u="none" strike="noStrike" cap="none" dirty="0"/>
          </a:p>
        </p:txBody>
      </p:sp>
      <p:sp>
        <p:nvSpPr>
          <p:cNvPr id="13" name="Google Shape;72;p13"/>
          <p:cNvSpPr/>
          <p:nvPr/>
        </p:nvSpPr>
        <p:spPr>
          <a:xfrm>
            <a:off x="8063108" y="118768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4E9"/>
          </a:solidFill>
          <a:ln w="952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" name="Google Shape;73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6830" y="1291271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74;p13"/>
          <p:cNvSpPr/>
          <p:nvPr/>
        </p:nvSpPr>
        <p:spPr>
          <a:xfrm>
            <a:off x="8707132" y="1107022"/>
            <a:ext cx="3421499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lang="en-US" sz="220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Nhu</a:t>
            </a:r>
            <a:r>
              <a:rPr lang="en-US" sz="220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20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cầu</a:t>
            </a:r>
            <a:r>
              <a:rPr lang="en-US" sz="220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20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về</a:t>
            </a:r>
            <a:r>
              <a:rPr lang="en-US" sz="220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20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giải</a:t>
            </a:r>
            <a:r>
              <a:rPr lang="en-US" sz="220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20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pháp</a:t>
            </a:r>
            <a:r>
              <a:rPr lang="en-US" sz="220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20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linh</a:t>
            </a:r>
            <a:r>
              <a:rPr lang="en-US" sz="220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20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hoạt</a:t>
            </a:r>
            <a:endParaRPr sz="2200" b="0" i="0" u="none" strike="noStrike" cap="none" dirty="0"/>
          </a:p>
        </p:txBody>
      </p:sp>
      <p:sp>
        <p:nvSpPr>
          <p:cNvPr id="16" name="Google Shape;75;p13"/>
          <p:cNvSpPr/>
          <p:nvPr/>
        </p:nvSpPr>
        <p:spPr>
          <a:xfrm>
            <a:off x="8573410" y="2277269"/>
            <a:ext cx="3421499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Cần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một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website </a:t>
            </a:r>
            <a:r>
              <a:rPr lang="en-US" sz="175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đơn</a:t>
            </a:r>
            <a:r>
              <a:rPr lang="en-US" sz="175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giản</a:t>
            </a:r>
            <a:r>
              <a:rPr lang="en-US" sz="175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chi </a:t>
            </a:r>
            <a:r>
              <a:rPr lang="en-US" sz="175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phí</a:t>
            </a:r>
            <a:r>
              <a:rPr lang="en-US" sz="175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thấp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nhưng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vẫn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có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khả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năng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hiển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thị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dữ</a:t>
            </a:r>
            <a:r>
              <a:rPr lang="en-US" sz="175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liệu</a:t>
            </a:r>
            <a:r>
              <a:rPr lang="en-US" sz="175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động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một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cách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hiệu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quả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750" b="0" i="0" u="none" strike="noStrike" cap="none" dirty="0"/>
          </a:p>
        </p:txBody>
      </p:sp>
      <p:sp>
        <p:nvSpPr>
          <p:cNvPr id="17" name="Google Shape;76;p13"/>
          <p:cNvSpPr/>
          <p:nvPr/>
        </p:nvSpPr>
        <p:spPr>
          <a:xfrm>
            <a:off x="719892" y="4553369"/>
            <a:ext cx="10633909" cy="892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Đề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tài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này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tập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trung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giải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quyết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bài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toán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website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tĩnh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nhưng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vẫn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hiển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thị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dữ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liệu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linh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hoạt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mà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không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cần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backend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phức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tạp</a:t>
            </a:r>
            <a:r>
              <a:rPr lang="en-US" sz="17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750" b="0" i="0" u="none" strike="noStrike" cap="none" dirty="0"/>
          </a:p>
        </p:txBody>
      </p:sp>
    </p:spTree>
    <p:extLst>
      <p:ext uri="{BB962C8B-B14F-4D97-AF65-F5344CB8AC3E}">
        <p14:creationId xmlns:p14="http://schemas.microsoft.com/office/powerpoint/2010/main" val="2682952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3;p14"/>
          <p:cNvSpPr/>
          <p:nvPr/>
        </p:nvSpPr>
        <p:spPr>
          <a:xfrm>
            <a:off x="471363" y="16396"/>
            <a:ext cx="4200057" cy="760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3750"/>
              <a:buFont typeface="Mona Sans"/>
              <a:buNone/>
            </a:pPr>
            <a:r>
              <a:rPr lang="en-US" sz="375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Mục</a:t>
            </a:r>
            <a:r>
              <a:rPr lang="en-US" sz="375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375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tiêu</a:t>
            </a:r>
            <a:r>
              <a:rPr lang="en-US" sz="375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375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đề</a:t>
            </a:r>
            <a:r>
              <a:rPr lang="en-US" sz="375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375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tài</a:t>
            </a:r>
            <a:endParaRPr sz="3750" b="0" i="0" u="none" strike="noStrike" cap="none" dirty="0"/>
          </a:p>
        </p:txBody>
      </p:sp>
      <p:sp>
        <p:nvSpPr>
          <p:cNvPr id="6" name="Google Shape;84;p14"/>
          <p:cNvSpPr/>
          <p:nvPr/>
        </p:nvSpPr>
        <p:spPr>
          <a:xfrm>
            <a:off x="417596" y="832737"/>
            <a:ext cx="6898956" cy="1265216"/>
          </a:xfrm>
          <a:prstGeom prst="roundRect">
            <a:avLst>
              <a:gd name="adj" fmla="val 9109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85;p14"/>
          <p:cNvSpPr/>
          <p:nvPr/>
        </p:nvSpPr>
        <p:spPr>
          <a:xfrm>
            <a:off x="390843" y="850900"/>
            <a:ext cx="80520" cy="1265216"/>
          </a:xfrm>
          <a:prstGeom prst="roundRect">
            <a:avLst>
              <a:gd name="adj" fmla="val 87631"/>
            </a:avLst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6;p14"/>
          <p:cNvSpPr/>
          <p:nvPr/>
        </p:nvSpPr>
        <p:spPr>
          <a:xfrm>
            <a:off x="695882" y="832737"/>
            <a:ext cx="4041218" cy="259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50"/>
              <a:buFont typeface="Mona Sans"/>
              <a:buNone/>
            </a:pPr>
            <a:r>
              <a:rPr lang="en-US" sz="22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Xây</a:t>
            </a:r>
            <a:r>
              <a:rPr lang="en-US" sz="22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2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dựng</a:t>
            </a:r>
            <a:r>
              <a:rPr lang="en-US" sz="22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website </a:t>
            </a:r>
            <a:r>
              <a:rPr lang="en-US" sz="22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tĩnh</a:t>
            </a:r>
            <a:endParaRPr sz="2250" b="0" i="0" u="none" strike="noStrike" cap="none" dirty="0"/>
          </a:p>
        </p:txBody>
      </p:sp>
      <p:sp>
        <p:nvSpPr>
          <p:cNvPr id="9" name="Google Shape;87;p14"/>
          <p:cNvSpPr/>
          <p:nvPr/>
        </p:nvSpPr>
        <p:spPr>
          <a:xfrm>
            <a:off x="695882" y="1290532"/>
            <a:ext cx="6439528" cy="22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00"/>
              <a:buFont typeface="Funnel Sans"/>
              <a:buNone/>
            </a:pP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Phát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triển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một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website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tĩnh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hoàn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chỉnh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để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trưng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bày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bán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sản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phẩm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trang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sức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500" b="0" i="0" u="none" strike="noStrike" cap="none" dirty="0"/>
          </a:p>
        </p:txBody>
      </p:sp>
      <p:sp>
        <p:nvSpPr>
          <p:cNvPr id="10" name="Google Shape;88;p14"/>
          <p:cNvSpPr/>
          <p:nvPr/>
        </p:nvSpPr>
        <p:spPr>
          <a:xfrm>
            <a:off x="413702" y="2329716"/>
            <a:ext cx="6876097" cy="1096502"/>
          </a:xfrm>
          <a:prstGeom prst="roundRect">
            <a:avLst>
              <a:gd name="adj" fmla="val 7268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89;p14"/>
          <p:cNvSpPr/>
          <p:nvPr/>
        </p:nvSpPr>
        <p:spPr>
          <a:xfrm>
            <a:off x="390843" y="2329716"/>
            <a:ext cx="80520" cy="1096502"/>
          </a:xfrm>
          <a:prstGeom prst="roundRect">
            <a:avLst>
              <a:gd name="adj" fmla="val 87631"/>
            </a:avLst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90;p14"/>
          <p:cNvSpPr/>
          <p:nvPr/>
        </p:nvSpPr>
        <p:spPr>
          <a:xfrm>
            <a:off x="695881" y="2356268"/>
            <a:ext cx="3917877" cy="327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50"/>
              <a:buFont typeface="Mona Sans"/>
              <a:buNone/>
            </a:pPr>
            <a:r>
              <a:rPr lang="en-US" sz="22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Dữ</a:t>
            </a:r>
            <a:r>
              <a:rPr lang="en-US" sz="22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2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liệu</a:t>
            </a:r>
            <a:r>
              <a:rPr lang="en-US" sz="22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2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sản</a:t>
            </a:r>
            <a:r>
              <a:rPr lang="en-US" sz="22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2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phẩm</a:t>
            </a:r>
            <a:r>
              <a:rPr lang="en-US" sz="22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2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động</a:t>
            </a:r>
            <a:endParaRPr sz="2250" b="0" i="0" u="none" strike="noStrike" cap="none" dirty="0"/>
          </a:p>
        </p:txBody>
      </p:sp>
      <p:sp>
        <p:nvSpPr>
          <p:cNvPr id="13" name="Google Shape;91;p14"/>
          <p:cNvSpPr/>
          <p:nvPr/>
        </p:nvSpPr>
        <p:spPr>
          <a:xfrm>
            <a:off x="695882" y="2681881"/>
            <a:ext cx="6439528" cy="650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00"/>
              <a:buFont typeface="Funnel Sans"/>
              <a:buNone/>
            </a:pP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Tích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hợp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hiển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thị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dữ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liệu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sản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phẩm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một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cách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động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từ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nguồn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JSON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bên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ngoài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mô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phỏng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sự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linh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hoạt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của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website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động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500" b="0" i="0" u="none" strike="noStrike" cap="none" dirty="0"/>
          </a:p>
        </p:txBody>
      </p:sp>
      <p:sp>
        <p:nvSpPr>
          <p:cNvPr id="14" name="Google Shape;92;p14"/>
          <p:cNvSpPr/>
          <p:nvPr/>
        </p:nvSpPr>
        <p:spPr>
          <a:xfrm>
            <a:off x="390843" y="3790175"/>
            <a:ext cx="6898956" cy="1265216"/>
          </a:xfrm>
          <a:prstGeom prst="roundRect">
            <a:avLst>
              <a:gd name="adj" fmla="val 9109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93;p14"/>
          <p:cNvSpPr/>
          <p:nvPr/>
        </p:nvSpPr>
        <p:spPr>
          <a:xfrm>
            <a:off x="390843" y="3790175"/>
            <a:ext cx="80520" cy="1265216"/>
          </a:xfrm>
          <a:prstGeom prst="roundRect">
            <a:avLst>
              <a:gd name="adj" fmla="val 87631"/>
            </a:avLst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94;p14"/>
          <p:cNvSpPr/>
          <p:nvPr/>
        </p:nvSpPr>
        <p:spPr>
          <a:xfrm>
            <a:off x="695881" y="3928481"/>
            <a:ext cx="4168219" cy="24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50"/>
              <a:buFont typeface="Mona Sans"/>
              <a:buNone/>
            </a:pPr>
            <a:r>
              <a:rPr lang="en-US" sz="2250" b="0" i="0" u="none" strike="noStrike" cap="non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Mô phỏng chức năng TMĐT</a:t>
            </a:r>
            <a:endParaRPr sz="2250" b="0" i="0" u="none" strike="noStrike" cap="none"/>
          </a:p>
        </p:txBody>
      </p:sp>
      <p:sp>
        <p:nvSpPr>
          <p:cNvPr id="17" name="Google Shape;95;p14"/>
          <p:cNvSpPr/>
          <p:nvPr/>
        </p:nvSpPr>
        <p:spPr>
          <a:xfrm>
            <a:off x="695882" y="4343399"/>
            <a:ext cx="6439528" cy="711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00"/>
              <a:buFont typeface="Funnel Sans"/>
              <a:buNone/>
            </a:pP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Triển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khai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các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tính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năng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cơ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bản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như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xem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sản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phẩm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tìm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kiếm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lọc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quản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lý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giỏ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hàng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500" b="0" i="0" u="none" strike="noStrike" cap="none" dirty="0"/>
          </a:p>
        </p:txBody>
      </p:sp>
      <p:sp>
        <p:nvSpPr>
          <p:cNvPr id="18" name="Google Shape;96;p14"/>
          <p:cNvSpPr/>
          <p:nvPr/>
        </p:nvSpPr>
        <p:spPr>
          <a:xfrm>
            <a:off x="413702" y="5425460"/>
            <a:ext cx="6876097" cy="1096502"/>
          </a:xfrm>
          <a:prstGeom prst="roundRect">
            <a:avLst>
              <a:gd name="adj" fmla="val 7268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97;p14"/>
          <p:cNvSpPr/>
          <p:nvPr/>
        </p:nvSpPr>
        <p:spPr>
          <a:xfrm>
            <a:off x="390843" y="5425460"/>
            <a:ext cx="80520" cy="1096502"/>
          </a:xfrm>
          <a:prstGeom prst="roundRect">
            <a:avLst>
              <a:gd name="adj" fmla="val 87631"/>
            </a:avLst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98;p14"/>
          <p:cNvSpPr/>
          <p:nvPr/>
        </p:nvSpPr>
        <p:spPr>
          <a:xfrm>
            <a:off x="695881" y="5481417"/>
            <a:ext cx="3801382" cy="327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50"/>
              <a:buFont typeface="Mona Sans"/>
              <a:buNone/>
            </a:pPr>
            <a:r>
              <a:rPr lang="en-US" sz="22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Không</a:t>
            </a:r>
            <a:r>
              <a:rPr lang="en-US" sz="22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Backend &amp; CSDL </a:t>
            </a:r>
            <a:r>
              <a:rPr lang="en-US" sz="22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thực</a:t>
            </a:r>
            <a:endParaRPr sz="2250" b="0" i="0" u="none" strike="noStrike" cap="none" dirty="0"/>
          </a:p>
        </p:txBody>
      </p:sp>
      <p:sp>
        <p:nvSpPr>
          <p:cNvPr id="21" name="Google Shape;99;p14"/>
          <p:cNvSpPr/>
          <p:nvPr/>
        </p:nvSpPr>
        <p:spPr>
          <a:xfrm>
            <a:off x="695882" y="5865092"/>
            <a:ext cx="6439528" cy="656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00"/>
              <a:buFont typeface="Funnel Sans"/>
              <a:buNone/>
            </a:pP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Thực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hiện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tất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cả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các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chức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năng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mà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không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cần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sử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dụng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hệ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thống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backend hay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cơ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sở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dữ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liệu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vật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lý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500" b="0" i="0" u="none" strike="noStrike" cap="none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2" b="46471"/>
          <a:stretch/>
        </p:blipFill>
        <p:spPr>
          <a:xfrm>
            <a:off x="7359929" y="199230"/>
            <a:ext cx="4448011" cy="645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04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5;p15"/>
          <p:cNvSpPr/>
          <p:nvPr/>
        </p:nvSpPr>
        <p:spPr>
          <a:xfrm>
            <a:off x="865148" y="647700"/>
            <a:ext cx="6856452" cy="770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550"/>
              <a:buFont typeface="Mona Sans"/>
              <a:buNone/>
            </a:pPr>
            <a:r>
              <a:rPr lang="en-US" sz="25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Đối</a:t>
            </a:r>
            <a:r>
              <a:rPr lang="en-US" sz="25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5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tượng</a:t>
            </a:r>
            <a:r>
              <a:rPr lang="en-US" sz="25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&amp; </a:t>
            </a:r>
            <a:r>
              <a:rPr lang="en-US" sz="25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Phạm</a:t>
            </a:r>
            <a:r>
              <a:rPr lang="en-US" sz="25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vi </a:t>
            </a:r>
            <a:r>
              <a:rPr lang="en-US" sz="25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nghiên</a:t>
            </a:r>
            <a:r>
              <a:rPr lang="en-US" sz="25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5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cứu</a:t>
            </a:r>
            <a:endParaRPr sz="2500" b="0" i="0" u="none" strike="noStrike" cap="none" dirty="0"/>
          </a:p>
        </p:txBody>
      </p:sp>
      <p:sp>
        <p:nvSpPr>
          <p:cNvPr id="5" name="Google Shape;106;p15"/>
          <p:cNvSpPr/>
          <p:nvPr/>
        </p:nvSpPr>
        <p:spPr>
          <a:xfrm>
            <a:off x="1246147" y="1774032"/>
            <a:ext cx="2795698" cy="547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1500"/>
              <a:buFont typeface="Mona Sans"/>
              <a:buNone/>
            </a:pPr>
            <a:r>
              <a:rPr lang="en-US" sz="14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Đối</a:t>
            </a:r>
            <a:r>
              <a:rPr lang="en-US" sz="14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14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tượng</a:t>
            </a:r>
            <a:r>
              <a:rPr lang="en-US" sz="14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14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nghiên</a:t>
            </a:r>
            <a:r>
              <a:rPr lang="en-US" sz="14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14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cứu</a:t>
            </a:r>
            <a:endParaRPr sz="1400" b="0" i="0" u="none" strike="noStrike" cap="none" dirty="0"/>
          </a:p>
        </p:txBody>
      </p:sp>
      <p:sp>
        <p:nvSpPr>
          <p:cNvPr id="6" name="Google Shape;107;p15"/>
          <p:cNvSpPr/>
          <p:nvPr/>
        </p:nvSpPr>
        <p:spPr>
          <a:xfrm>
            <a:off x="1691520" y="2409101"/>
            <a:ext cx="9205079" cy="934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000"/>
              <a:buFont typeface="Funnel Sans"/>
              <a:buNone/>
            </a:pPr>
            <a:r>
              <a:rPr lang="en-US" sz="14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Quy</a:t>
            </a:r>
            <a:r>
              <a:rPr lang="en-US" sz="14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trình</a:t>
            </a:r>
            <a:r>
              <a:rPr lang="en-US" sz="14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xây</a:t>
            </a:r>
            <a:r>
              <a:rPr lang="en-US" sz="14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dựng</a:t>
            </a:r>
            <a:r>
              <a:rPr lang="en-US" sz="14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website </a:t>
            </a:r>
            <a:r>
              <a:rPr lang="en-US" sz="14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tĩnh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có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khả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năng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tích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hợp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hiển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thị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dữ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liệu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động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thông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qua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các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kỹ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thuật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frontend.</a:t>
            </a:r>
            <a:endParaRPr sz="1400" b="0" i="0" u="none" strike="noStrike" cap="none" dirty="0"/>
          </a:p>
        </p:txBody>
      </p:sp>
      <p:sp>
        <p:nvSpPr>
          <p:cNvPr id="7" name="Google Shape;108;p15"/>
          <p:cNvSpPr/>
          <p:nvPr/>
        </p:nvSpPr>
        <p:spPr>
          <a:xfrm>
            <a:off x="1691520" y="2848998"/>
            <a:ext cx="9205079" cy="46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000"/>
              <a:buFont typeface="Funnel Sans"/>
              <a:buNone/>
            </a:pP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Nghiên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cứu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về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các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phương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pháp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công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cụ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giúp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tối</a:t>
            </a:r>
            <a:r>
              <a:rPr lang="en-US" sz="14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ưu</a:t>
            </a:r>
            <a:r>
              <a:rPr lang="en-US" sz="14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hiệu</a:t>
            </a:r>
            <a:r>
              <a:rPr lang="en-US" sz="14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suất</a:t>
            </a:r>
            <a:r>
              <a:rPr lang="en-US" sz="14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</a:t>
            </a:r>
            <a:r>
              <a:rPr lang="en-US" sz="14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trải</a:t>
            </a:r>
            <a:r>
              <a:rPr lang="en-US" sz="14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nghiệm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người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dùng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trên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website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tĩnh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400" b="0" i="0" u="none" strike="noStrike" cap="none" dirty="0"/>
          </a:p>
        </p:txBody>
      </p:sp>
      <p:sp>
        <p:nvSpPr>
          <p:cNvPr id="9" name="Google Shape;110;p15"/>
          <p:cNvSpPr/>
          <p:nvPr/>
        </p:nvSpPr>
        <p:spPr>
          <a:xfrm>
            <a:off x="1246147" y="3678069"/>
            <a:ext cx="2703063" cy="547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1500"/>
              <a:buFont typeface="Mona Sans"/>
              <a:buNone/>
            </a:pPr>
            <a:r>
              <a:rPr lang="en-US" sz="14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Phạm</a:t>
            </a:r>
            <a:r>
              <a:rPr lang="en-US" sz="14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vi </a:t>
            </a:r>
            <a:r>
              <a:rPr lang="en-US" sz="14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nghiên</a:t>
            </a:r>
            <a:r>
              <a:rPr lang="en-US" sz="14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14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cứu</a:t>
            </a:r>
            <a:endParaRPr sz="1400" b="0" i="0" u="none" strike="noStrike" cap="none" dirty="0"/>
          </a:p>
        </p:txBody>
      </p:sp>
      <p:sp>
        <p:nvSpPr>
          <p:cNvPr id="10" name="Google Shape;111;p15"/>
          <p:cNvSpPr/>
          <p:nvPr/>
        </p:nvSpPr>
        <p:spPr>
          <a:xfrm>
            <a:off x="1691521" y="4071026"/>
            <a:ext cx="9205079" cy="46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000"/>
              <a:buFont typeface="Funnel Sans"/>
              <a:buNone/>
            </a:pPr>
            <a:r>
              <a:rPr lang="en-US" sz="14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HTML, CSS, JavaScript: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Nền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tảng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phát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triển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frontend.</a:t>
            </a:r>
            <a:endParaRPr sz="1400" b="0" i="0" u="none" strike="noStrike" cap="none" dirty="0"/>
          </a:p>
        </p:txBody>
      </p:sp>
      <p:sp>
        <p:nvSpPr>
          <p:cNvPr id="11" name="Google Shape;112;p15"/>
          <p:cNvSpPr/>
          <p:nvPr/>
        </p:nvSpPr>
        <p:spPr>
          <a:xfrm>
            <a:off x="1691521" y="4326534"/>
            <a:ext cx="9205079" cy="46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000"/>
              <a:buFont typeface="Funnel Sans"/>
              <a:buNone/>
            </a:pPr>
            <a:r>
              <a:rPr lang="en-US" sz="14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Bootstrap 5: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Framework CSS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giúp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xây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dựng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giao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diện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responsive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nhanh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chóng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400" b="0" i="0" u="none" strike="noStrike" cap="none" dirty="0"/>
          </a:p>
        </p:txBody>
      </p:sp>
      <p:sp>
        <p:nvSpPr>
          <p:cNvPr id="12" name="Google Shape;113;p15"/>
          <p:cNvSpPr/>
          <p:nvPr/>
        </p:nvSpPr>
        <p:spPr>
          <a:xfrm>
            <a:off x="1691521" y="4582042"/>
            <a:ext cx="9205079" cy="46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000"/>
              <a:buFont typeface="Funnel Sans"/>
              <a:buNone/>
            </a:pPr>
            <a:r>
              <a:rPr lang="en-US" sz="14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Fetch API + JSON Server: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Giải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pháp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lấy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dữ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liệu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động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giả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lập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API.</a:t>
            </a:r>
            <a:endParaRPr sz="1400" b="0" i="0" u="none" strike="noStrike" cap="none" dirty="0"/>
          </a:p>
        </p:txBody>
      </p:sp>
      <p:sp>
        <p:nvSpPr>
          <p:cNvPr id="13" name="Google Shape;114;p15"/>
          <p:cNvSpPr/>
          <p:nvPr/>
        </p:nvSpPr>
        <p:spPr>
          <a:xfrm>
            <a:off x="1691521" y="4837289"/>
            <a:ext cx="9205079" cy="484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Funnel Sans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❌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Không</a:t>
            </a:r>
            <a:r>
              <a:rPr lang="en-US" sz="14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triển</a:t>
            </a:r>
            <a:r>
              <a:rPr lang="en-US" sz="14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khai</a:t>
            </a:r>
            <a:r>
              <a:rPr lang="en-US" sz="14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Backend </a:t>
            </a:r>
            <a:r>
              <a:rPr lang="en-US" sz="14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thực</a:t>
            </a:r>
            <a:r>
              <a:rPr lang="en-US" sz="14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tế</a:t>
            </a:r>
            <a:r>
              <a:rPr lang="en-US" sz="14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: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Tập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trung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hoàn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toàn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vào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frontend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dữ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liệu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giả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lập</a:t>
            </a:r>
            <a:r>
              <a:rPr lang="en-US" sz="14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400" b="0" i="0" u="none" strike="noStrike" cap="none" dirty="0"/>
          </a:p>
        </p:txBody>
      </p:sp>
    </p:spTree>
    <p:extLst>
      <p:ext uri="{BB962C8B-B14F-4D97-AF65-F5344CB8AC3E}">
        <p14:creationId xmlns:p14="http://schemas.microsoft.com/office/powerpoint/2010/main" val="496105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1;p16"/>
          <p:cNvSpPr/>
          <p:nvPr/>
        </p:nvSpPr>
        <p:spPr>
          <a:xfrm>
            <a:off x="662702" y="823436"/>
            <a:ext cx="4734163" cy="591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75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3700"/>
              <a:buFont typeface="Mona Sans"/>
              <a:buNone/>
            </a:pPr>
            <a:r>
              <a:rPr lang="en-US" sz="3700" b="0" i="0" u="none" strike="noStrike" cap="non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Công nghệ sử dụng</a:t>
            </a:r>
            <a:endParaRPr sz="3700" b="0" i="0" u="none" strike="noStrike" cap="none"/>
          </a:p>
        </p:txBody>
      </p:sp>
      <p:pic>
        <p:nvPicPr>
          <p:cNvPr id="5" name="Google Shape;122;p16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2702" y="1793915"/>
            <a:ext cx="568047" cy="56804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23;p16"/>
          <p:cNvSpPr/>
          <p:nvPr/>
        </p:nvSpPr>
        <p:spPr>
          <a:xfrm>
            <a:off x="1412002" y="1930003"/>
            <a:ext cx="2367082" cy="295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850"/>
              <a:buFont typeface="Mona Sans"/>
              <a:buNone/>
            </a:pPr>
            <a:r>
              <a:rPr lang="en-US" sz="18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HTML</a:t>
            </a:r>
            <a:endParaRPr sz="1850" b="0" i="0" u="none" strike="noStrike" cap="none" dirty="0"/>
          </a:p>
        </p:txBody>
      </p:sp>
      <p:sp>
        <p:nvSpPr>
          <p:cNvPr id="7" name="Google Shape;124;p16"/>
          <p:cNvSpPr/>
          <p:nvPr/>
        </p:nvSpPr>
        <p:spPr>
          <a:xfrm>
            <a:off x="654745" y="2450465"/>
            <a:ext cx="6534150" cy="303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450"/>
              <a:buFont typeface="Funnel Sans"/>
              <a:buNone/>
            </a:pP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Xây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dựng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cấu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trúc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nội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dung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xương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sống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của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trang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web.</a:t>
            </a:r>
            <a:endParaRPr sz="1450" b="0" i="0" u="none" strike="noStrike" cap="none" dirty="0"/>
          </a:p>
        </p:txBody>
      </p:sp>
      <p:pic>
        <p:nvPicPr>
          <p:cNvPr id="8" name="Google Shape;125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33548" y="1793915"/>
            <a:ext cx="568047" cy="56804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6;p16"/>
          <p:cNvSpPr/>
          <p:nvPr/>
        </p:nvSpPr>
        <p:spPr>
          <a:xfrm>
            <a:off x="8170148" y="1914406"/>
            <a:ext cx="2367082" cy="295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850"/>
              <a:buFont typeface="Mona Sans"/>
              <a:buNone/>
            </a:pPr>
            <a:r>
              <a:rPr lang="en-US" sz="18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CSS &amp; Bootstrap 5</a:t>
            </a:r>
            <a:endParaRPr sz="1850" b="0" i="0" u="none" strike="noStrike" cap="none" dirty="0"/>
          </a:p>
        </p:txBody>
      </p:sp>
      <p:sp>
        <p:nvSpPr>
          <p:cNvPr id="10" name="Google Shape;127;p16"/>
          <p:cNvSpPr/>
          <p:nvPr/>
        </p:nvSpPr>
        <p:spPr>
          <a:xfrm>
            <a:off x="7389237" y="2437686"/>
            <a:ext cx="4409063" cy="606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450"/>
              <a:buFont typeface="Funnel Sans"/>
              <a:buNone/>
            </a:pP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Thiết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kế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giao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diện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đẹp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mắt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thân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thiện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người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dùng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responsive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trên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mọi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thiết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bị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450" b="0" i="0" u="none" strike="noStrike" cap="none" dirty="0"/>
          </a:p>
        </p:txBody>
      </p:sp>
      <p:pic>
        <p:nvPicPr>
          <p:cNvPr id="11" name="Google Shape;128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2702" y="3225800"/>
            <a:ext cx="568047" cy="56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9;p16"/>
          <p:cNvSpPr/>
          <p:nvPr/>
        </p:nvSpPr>
        <p:spPr>
          <a:xfrm>
            <a:off x="1230749" y="3318271"/>
            <a:ext cx="2367082" cy="295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850"/>
              <a:buFont typeface="Mona Sans"/>
              <a:buNone/>
            </a:pPr>
            <a:r>
              <a:rPr lang="en-US" sz="18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JavaScript</a:t>
            </a:r>
            <a:endParaRPr sz="1850" b="0" i="0" u="none" strike="noStrike" cap="none" dirty="0"/>
          </a:p>
        </p:txBody>
      </p:sp>
      <p:sp>
        <p:nvSpPr>
          <p:cNvPr id="13" name="Google Shape;130;p16"/>
          <p:cNvSpPr/>
          <p:nvPr/>
        </p:nvSpPr>
        <p:spPr>
          <a:xfrm>
            <a:off x="654745" y="4055625"/>
            <a:ext cx="6534150" cy="303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450"/>
              <a:buFont typeface="Funnel Sans"/>
              <a:buNone/>
            </a:pP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Xử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lý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logic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tương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tác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sự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kiện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mang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lại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trải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nghiệm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động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cho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người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dùng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450" b="0" i="0" u="none" strike="noStrike" cap="none" dirty="0"/>
          </a:p>
        </p:txBody>
      </p:sp>
      <p:pic>
        <p:nvPicPr>
          <p:cNvPr id="14" name="Google Shape;131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89237" y="3345418"/>
            <a:ext cx="568047" cy="56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32;p16"/>
          <p:cNvSpPr/>
          <p:nvPr/>
        </p:nvSpPr>
        <p:spPr>
          <a:xfrm>
            <a:off x="8170148" y="3413284"/>
            <a:ext cx="2367082" cy="295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850"/>
              <a:buFont typeface="Mona Sans"/>
              <a:buNone/>
            </a:pPr>
            <a:r>
              <a:rPr lang="en-US" sz="18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JSON Server</a:t>
            </a:r>
            <a:endParaRPr sz="1850" b="0" i="0" u="none" strike="noStrike" cap="none" dirty="0"/>
          </a:p>
        </p:txBody>
      </p:sp>
      <p:sp>
        <p:nvSpPr>
          <p:cNvPr id="16" name="Google Shape;133;p16"/>
          <p:cNvSpPr/>
          <p:nvPr/>
        </p:nvSpPr>
        <p:spPr>
          <a:xfrm>
            <a:off x="7383026" y="4130755"/>
            <a:ext cx="4415274" cy="22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450"/>
              <a:buFont typeface="Funnel Sans"/>
              <a:buNone/>
            </a:pP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Giả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lập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môi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trường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API RESTful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để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cung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cấp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dữ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liệu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động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450" b="0" i="0" u="none" strike="noStrike" cap="none" dirty="0"/>
          </a:p>
        </p:txBody>
      </p:sp>
      <p:pic>
        <p:nvPicPr>
          <p:cNvPr id="17" name="Google Shape;134;p1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702" y="4786570"/>
            <a:ext cx="568047" cy="56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35;p16"/>
          <p:cNvSpPr/>
          <p:nvPr/>
        </p:nvSpPr>
        <p:spPr>
          <a:xfrm>
            <a:off x="1254998" y="4911209"/>
            <a:ext cx="2367082" cy="295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850"/>
              <a:buFont typeface="Mona Sans"/>
              <a:buNone/>
            </a:pPr>
            <a:r>
              <a:rPr lang="en-US" sz="18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Fetch API</a:t>
            </a:r>
            <a:endParaRPr sz="1850" b="0" i="0" u="none" strike="noStrike" cap="none" dirty="0"/>
          </a:p>
        </p:txBody>
      </p:sp>
      <p:sp>
        <p:nvSpPr>
          <p:cNvPr id="19" name="Google Shape;136;p16"/>
          <p:cNvSpPr/>
          <p:nvPr/>
        </p:nvSpPr>
        <p:spPr>
          <a:xfrm>
            <a:off x="512009" y="5447666"/>
            <a:ext cx="6534150" cy="303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450"/>
              <a:buFont typeface="Funnel Sans"/>
              <a:buNone/>
            </a:pP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Thực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hiện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các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yêu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cầu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HTTP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để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lấy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dữ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liệu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bất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đồng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bộ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từ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JSON Server.</a:t>
            </a:r>
            <a:endParaRPr sz="1450" b="0" i="0" u="none" strike="noStrike" cap="none" dirty="0"/>
          </a:p>
        </p:txBody>
      </p:sp>
      <p:pic>
        <p:nvPicPr>
          <p:cNvPr id="20" name="Google Shape;137;p1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83026" y="4822330"/>
            <a:ext cx="568047" cy="56804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38;p16"/>
          <p:cNvSpPr/>
          <p:nvPr/>
        </p:nvSpPr>
        <p:spPr>
          <a:xfrm>
            <a:off x="8136096" y="4925438"/>
            <a:ext cx="2367082" cy="295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850"/>
              <a:buFont typeface="Mona Sans"/>
              <a:buNone/>
            </a:pPr>
            <a:r>
              <a:rPr lang="en-US" sz="18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LocalStorage</a:t>
            </a:r>
            <a:endParaRPr sz="1850" b="0" i="0" u="none" strike="noStrike" cap="none" dirty="0"/>
          </a:p>
        </p:txBody>
      </p:sp>
      <p:sp>
        <p:nvSpPr>
          <p:cNvPr id="22" name="Google Shape;139;p16"/>
          <p:cNvSpPr/>
          <p:nvPr/>
        </p:nvSpPr>
        <p:spPr>
          <a:xfrm>
            <a:off x="7236103" y="5485093"/>
            <a:ext cx="4460597" cy="303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450"/>
              <a:buFont typeface="Funnel Sans"/>
              <a:buNone/>
            </a:pP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Lưu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trữ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dữ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liệu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giỏ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hàng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các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thiết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lập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người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dùng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cục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bộ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trên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trình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4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duyệt</a:t>
            </a:r>
            <a:r>
              <a:rPr lang="en-US" sz="14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450" b="0" i="0" u="none" strike="noStrike" cap="none" dirty="0"/>
          </a:p>
        </p:txBody>
      </p:sp>
    </p:spTree>
    <p:extLst>
      <p:ext uri="{BB962C8B-B14F-4D97-AF65-F5344CB8AC3E}">
        <p14:creationId xmlns:p14="http://schemas.microsoft.com/office/powerpoint/2010/main" val="840498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5;p17"/>
          <p:cNvSpPr/>
          <p:nvPr/>
        </p:nvSpPr>
        <p:spPr>
          <a:xfrm>
            <a:off x="786368" y="816249"/>
            <a:ext cx="8281432" cy="550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400"/>
              <a:buFont typeface="Mona Sans"/>
              <a:buNone/>
            </a:pPr>
            <a:r>
              <a:rPr lang="en-US" sz="29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So </a:t>
            </a:r>
            <a:r>
              <a:rPr lang="en-US" sz="29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sánh</a:t>
            </a:r>
            <a:r>
              <a:rPr lang="en-US" sz="29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Website </a:t>
            </a:r>
            <a:r>
              <a:rPr lang="en-US" sz="29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tĩnh</a:t>
            </a:r>
            <a:r>
              <a:rPr lang="en-US" sz="29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&amp; </a:t>
            </a:r>
            <a:r>
              <a:rPr lang="en-US" sz="29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Động</a:t>
            </a:r>
            <a:endParaRPr sz="2900" b="0" i="0" u="none" strike="noStrike" cap="none" dirty="0"/>
          </a:p>
        </p:txBody>
      </p:sp>
      <p:sp>
        <p:nvSpPr>
          <p:cNvPr id="5" name="Google Shape;146;p17"/>
          <p:cNvSpPr/>
          <p:nvPr/>
        </p:nvSpPr>
        <p:spPr>
          <a:xfrm>
            <a:off x="1792384" y="1473385"/>
            <a:ext cx="2865799" cy="16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1450"/>
              <a:buFont typeface="Mona Sans"/>
              <a:buNone/>
            </a:pPr>
            <a:r>
              <a:rPr lang="en-US" sz="15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Website </a:t>
            </a:r>
            <a:r>
              <a:rPr lang="en-US" sz="15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tĩnh</a:t>
            </a:r>
            <a:endParaRPr sz="1500" b="0" i="0" u="none" strike="noStrike" cap="none" dirty="0"/>
          </a:p>
        </p:txBody>
      </p:sp>
      <p:sp>
        <p:nvSpPr>
          <p:cNvPr id="6" name="Google Shape;147;p17"/>
          <p:cNvSpPr/>
          <p:nvPr/>
        </p:nvSpPr>
        <p:spPr>
          <a:xfrm>
            <a:off x="786368" y="1790700"/>
            <a:ext cx="4877832" cy="25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50"/>
              <a:buFont typeface="Funnel Sans"/>
              <a:buNone/>
            </a:pPr>
            <a:r>
              <a:rPr lang="en-US" sz="1500" b="1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Tốc độ tải nhanh:</a:t>
            </a:r>
            <a:r>
              <a:rPr lang="en-US" sz="1500" b="0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Do nội dung đã được tạo sẵn.</a:t>
            </a:r>
            <a:endParaRPr sz="1500" b="0" i="0" u="none" strike="noStrike" cap="none"/>
          </a:p>
        </p:txBody>
      </p:sp>
      <p:sp>
        <p:nvSpPr>
          <p:cNvPr id="7" name="Google Shape;148;p17"/>
          <p:cNvSpPr/>
          <p:nvPr/>
        </p:nvSpPr>
        <p:spPr>
          <a:xfrm>
            <a:off x="786368" y="2067262"/>
            <a:ext cx="4877832" cy="25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50"/>
              <a:buFont typeface="Funnel Sans"/>
              <a:buNone/>
            </a:pPr>
            <a:r>
              <a:rPr lang="en-US" sz="15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Dễ</a:t>
            </a:r>
            <a:r>
              <a:rPr lang="en-US" sz="15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triển</a:t>
            </a:r>
            <a:r>
              <a:rPr lang="en-US" sz="15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khai</a:t>
            </a:r>
            <a:r>
              <a:rPr lang="en-US" sz="15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: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Chỉ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cần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server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tĩnh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để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lưu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trữ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file.</a:t>
            </a:r>
            <a:endParaRPr sz="1500" b="0" i="0" u="none" strike="noStrike" cap="none" dirty="0"/>
          </a:p>
        </p:txBody>
      </p:sp>
      <p:sp>
        <p:nvSpPr>
          <p:cNvPr id="8" name="Google Shape;149;p17"/>
          <p:cNvSpPr/>
          <p:nvPr/>
        </p:nvSpPr>
        <p:spPr>
          <a:xfrm>
            <a:off x="786368" y="2307173"/>
            <a:ext cx="4877832" cy="25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50"/>
              <a:buFont typeface="Funnel Sans"/>
              <a:buNone/>
            </a:pPr>
            <a:r>
              <a:rPr lang="en-US" sz="1500" b="1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Chi phí thấp:</a:t>
            </a:r>
            <a:r>
              <a:rPr lang="en-US" sz="1500" b="0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Không yêu cầu tài nguyên server phức tạp.</a:t>
            </a:r>
            <a:endParaRPr sz="1500" b="0" i="0" u="none" strike="noStrike" cap="none"/>
          </a:p>
        </p:txBody>
      </p:sp>
      <p:sp>
        <p:nvSpPr>
          <p:cNvPr id="9" name="Google Shape;150;p17"/>
          <p:cNvSpPr/>
          <p:nvPr/>
        </p:nvSpPr>
        <p:spPr>
          <a:xfrm>
            <a:off x="786368" y="2547084"/>
            <a:ext cx="4877832" cy="25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50"/>
              <a:buFont typeface="Funnel Sans"/>
              <a:buNone/>
            </a:pPr>
            <a:r>
              <a:rPr lang="en-US" sz="1500" b="1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Bảo mật cao:</a:t>
            </a:r>
            <a:r>
              <a:rPr lang="en-US" sz="1500" b="0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Ít điểm yếu tấn công hơn.</a:t>
            </a:r>
            <a:endParaRPr sz="1500" b="0" i="0" u="none" strike="noStrike" cap="none"/>
          </a:p>
        </p:txBody>
      </p:sp>
      <p:sp>
        <p:nvSpPr>
          <p:cNvPr id="11" name="Google Shape;152;p17"/>
          <p:cNvSpPr/>
          <p:nvPr/>
        </p:nvSpPr>
        <p:spPr>
          <a:xfrm>
            <a:off x="7828558" y="1367517"/>
            <a:ext cx="2786666" cy="270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1450"/>
              <a:buFont typeface="Mona Sans"/>
              <a:buNone/>
            </a:pPr>
            <a:r>
              <a:rPr lang="en-US" sz="15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Website </a:t>
            </a:r>
            <a:r>
              <a:rPr lang="en-US" sz="15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động</a:t>
            </a:r>
            <a:endParaRPr sz="1500" b="0" i="0" u="none" strike="noStrike" cap="none" dirty="0"/>
          </a:p>
        </p:txBody>
      </p:sp>
      <p:sp>
        <p:nvSpPr>
          <p:cNvPr id="12" name="Google Shape;153;p17"/>
          <p:cNvSpPr/>
          <p:nvPr/>
        </p:nvSpPr>
        <p:spPr>
          <a:xfrm>
            <a:off x="6953949" y="1697360"/>
            <a:ext cx="4877832" cy="25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50"/>
              <a:buFont typeface="Funnel Sans"/>
              <a:buNone/>
            </a:pPr>
            <a:r>
              <a:rPr lang="en-US" sz="15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Phức</a:t>
            </a:r>
            <a:r>
              <a:rPr lang="en-US" sz="15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tạp</a:t>
            </a:r>
            <a:r>
              <a:rPr lang="en-US" sz="15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hơn</a:t>
            </a:r>
            <a:r>
              <a:rPr lang="en-US" sz="15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: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Yêu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cầu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backend,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cơ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sở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dữ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liệu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500" b="0" i="0" u="none" strike="noStrike" cap="none" dirty="0"/>
          </a:p>
        </p:txBody>
      </p:sp>
      <p:sp>
        <p:nvSpPr>
          <p:cNvPr id="13" name="Google Shape;154;p17"/>
          <p:cNvSpPr/>
          <p:nvPr/>
        </p:nvSpPr>
        <p:spPr>
          <a:xfrm>
            <a:off x="6914158" y="1992597"/>
            <a:ext cx="4877832" cy="25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50"/>
              <a:buFont typeface="Funnel Sans"/>
              <a:buNone/>
            </a:pPr>
            <a:r>
              <a:rPr lang="en-US" sz="15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Cần</a:t>
            </a:r>
            <a:r>
              <a:rPr lang="en-US" sz="15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Backend: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Để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xử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lý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logic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quản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lý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dữ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liệu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500" b="0" i="0" u="none" strike="noStrike" cap="none" dirty="0"/>
          </a:p>
        </p:txBody>
      </p:sp>
      <p:sp>
        <p:nvSpPr>
          <p:cNvPr id="14" name="Google Shape;155;p17"/>
          <p:cNvSpPr/>
          <p:nvPr/>
        </p:nvSpPr>
        <p:spPr>
          <a:xfrm>
            <a:off x="6914158" y="2287835"/>
            <a:ext cx="4877832" cy="25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50"/>
              <a:buFont typeface="Funnel Sans"/>
              <a:buNone/>
            </a:pPr>
            <a:r>
              <a:rPr lang="en-US" sz="15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Tương</a:t>
            </a:r>
            <a:r>
              <a:rPr lang="en-US" sz="15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tác</a:t>
            </a:r>
            <a:r>
              <a:rPr lang="en-US" sz="15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cao</a:t>
            </a:r>
            <a:r>
              <a:rPr lang="en-US" sz="15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: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Cá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nhân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hóa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nội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dung,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xử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lý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giao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dịch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500" b="0" i="0" u="none" strike="noStrike" cap="none" dirty="0"/>
          </a:p>
        </p:txBody>
      </p:sp>
      <p:sp>
        <p:nvSpPr>
          <p:cNvPr id="15" name="Google Shape;156;p17"/>
          <p:cNvSpPr/>
          <p:nvPr/>
        </p:nvSpPr>
        <p:spPr>
          <a:xfrm>
            <a:off x="6914158" y="2598202"/>
            <a:ext cx="4877832" cy="25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50"/>
              <a:buFont typeface="Funnel Sans"/>
              <a:buNone/>
            </a:pPr>
            <a:r>
              <a:rPr lang="en-US" sz="15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Chi </a:t>
            </a:r>
            <a:r>
              <a:rPr lang="en-US" sz="15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phí</a:t>
            </a:r>
            <a:r>
              <a:rPr lang="en-US" sz="15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cao</a:t>
            </a:r>
            <a:r>
              <a:rPr lang="en-US" sz="15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: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Cần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tài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nguyên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server, database.</a:t>
            </a:r>
            <a:endParaRPr sz="1500" b="0" i="0" u="none" strike="noStrike" cap="none" dirty="0"/>
          </a:p>
        </p:txBody>
      </p:sp>
      <p:sp>
        <p:nvSpPr>
          <p:cNvPr id="17" name="Google Shape;158;p17"/>
          <p:cNvSpPr/>
          <p:nvPr/>
        </p:nvSpPr>
        <p:spPr>
          <a:xfrm>
            <a:off x="1326514" y="4190186"/>
            <a:ext cx="9839491" cy="8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50"/>
              <a:buFont typeface="Funnel Sans"/>
              <a:buNone/>
            </a:pPr>
            <a:r>
              <a:rPr lang="en-US" sz="15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Giải</a:t>
            </a:r>
            <a:r>
              <a:rPr lang="en-US" sz="15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pháp</a:t>
            </a:r>
            <a:r>
              <a:rPr lang="en-US" sz="15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đề</a:t>
            </a:r>
            <a:r>
              <a:rPr lang="en-US" sz="15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tài</a:t>
            </a:r>
            <a:r>
              <a:rPr lang="en-US" sz="15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: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Tận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dụng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ưu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điểm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của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Website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tĩnh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kết</a:t>
            </a:r>
            <a:r>
              <a:rPr lang="en-US" sz="15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hợp</a:t>
            </a:r>
            <a:r>
              <a:rPr lang="en-US" sz="15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với</a:t>
            </a:r>
            <a:r>
              <a:rPr lang="en-US" sz="15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Fetch API </a:t>
            </a:r>
            <a:r>
              <a:rPr lang="en-US" sz="15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</a:t>
            </a:r>
            <a:r>
              <a:rPr lang="en-US" sz="15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JSON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để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có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được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dữ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liệu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động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mà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không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cần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Backend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phức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tạp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tối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ưu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chi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phí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hiệu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suất</a:t>
            </a:r>
            <a:r>
              <a:rPr lang="en-US" sz="15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500" b="0" i="0" u="none" strike="noStrike" cap="none" dirty="0"/>
          </a:p>
        </p:txBody>
      </p:sp>
      <p:sp>
        <p:nvSpPr>
          <p:cNvPr id="18" name="Google Shape;159;p17"/>
          <p:cNvSpPr/>
          <p:nvPr/>
        </p:nvSpPr>
        <p:spPr>
          <a:xfrm>
            <a:off x="1176916" y="4203924"/>
            <a:ext cx="45719" cy="876076"/>
          </a:xfrm>
          <a:prstGeom prst="rect">
            <a:avLst/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891926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65;p18"/>
          <p:cNvSpPr/>
          <p:nvPr/>
        </p:nvSpPr>
        <p:spPr>
          <a:xfrm>
            <a:off x="4271844" y="376079"/>
            <a:ext cx="4097456" cy="691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200"/>
              <a:buFont typeface="Mona Sans"/>
              <a:buNone/>
            </a:pPr>
            <a:r>
              <a:rPr lang="en-US" sz="30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Mô</a:t>
            </a:r>
            <a:r>
              <a:rPr lang="en-US" sz="30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30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tả</a:t>
            </a:r>
            <a:r>
              <a:rPr lang="en-US" sz="30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30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hệ</a:t>
            </a:r>
            <a:r>
              <a:rPr lang="en-US" sz="30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30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thống</a:t>
            </a:r>
            <a:endParaRPr sz="3000" b="0" i="0" u="none" strike="noStrike" cap="none" dirty="0"/>
          </a:p>
        </p:txBody>
      </p:sp>
      <p:sp>
        <p:nvSpPr>
          <p:cNvPr id="11" name="Google Shape;166;p18"/>
          <p:cNvSpPr/>
          <p:nvPr/>
        </p:nvSpPr>
        <p:spPr>
          <a:xfrm>
            <a:off x="472083" y="1467345"/>
            <a:ext cx="5408017" cy="340162"/>
          </a:xfrm>
          <a:prstGeom prst="roundRect">
            <a:avLst>
              <a:gd name="adj" fmla="val 480114"/>
            </a:avLst>
          </a:prstGeom>
          <a:solidFill>
            <a:srgbClr val="E2E4E9"/>
          </a:solidFill>
          <a:ln w="952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pic>
        <p:nvPicPr>
          <p:cNvPr id="12" name="Google Shape;167;p18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37451" y="1487031"/>
            <a:ext cx="321905" cy="31428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68;p18"/>
          <p:cNvSpPr/>
          <p:nvPr/>
        </p:nvSpPr>
        <p:spPr>
          <a:xfrm>
            <a:off x="574793" y="1997511"/>
            <a:ext cx="1562695" cy="177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Mona Sans"/>
              <a:buNone/>
            </a:pPr>
            <a:r>
              <a:rPr lang="en-US" sz="120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Trang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chủ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&amp;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Sản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phẩm</a:t>
            </a:r>
            <a:endParaRPr sz="1200" b="0" i="0" u="none" strike="noStrike" cap="none" dirty="0"/>
          </a:p>
        </p:txBody>
      </p:sp>
      <p:sp>
        <p:nvSpPr>
          <p:cNvPr id="14" name="Google Shape;169;p18"/>
          <p:cNvSpPr/>
          <p:nvPr/>
        </p:nvSpPr>
        <p:spPr>
          <a:xfrm>
            <a:off x="574793" y="2227370"/>
            <a:ext cx="5631619" cy="51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850"/>
              <a:buFont typeface="Funnel Sans"/>
              <a:buNone/>
            </a:pP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Hiển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thị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các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sản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phẩm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nổi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bật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danh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mục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sản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phẩm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trang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chi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tiết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từng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sản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phẩm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200" b="0" i="0" u="none" strike="noStrike" cap="none" dirty="0"/>
          </a:p>
        </p:txBody>
      </p:sp>
      <p:sp>
        <p:nvSpPr>
          <p:cNvPr id="15" name="Google Shape;170;p18"/>
          <p:cNvSpPr/>
          <p:nvPr/>
        </p:nvSpPr>
        <p:spPr>
          <a:xfrm>
            <a:off x="7220308" y="1467345"/>
            <a:ext cx="4460339" cy="333972"/>
          </a:xfrm>
          <a:prstGeom prst="roundRect">
            <a:avLst>
              <a:gd name="adj" fmla="val 480114"/>
            </a:avLst>
          </a:prstGeom>
          <a:solidFill>
            <a:srgbClr val="E2E4E9"/>
          </a:solidFill>
          <a:ln w="952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pic>
        <p:nvPicPr>
          <p:cNvPr id="16" name="Google Shape;171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50555" y="1546286"/>
            <a:ext cx="228600" cy="25503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2;p18"/>
          <p:cNvSpPr/>
          <p:nvPr/>
        </p:nvSpPr>
        <p:spPr>
          <a:xfrm>
            <a:off x="7447121" y="2031821"/>
            <a:ext cx="1417558" cy="177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Mona Sans"/>
              <a:buNone/>
            </a:pPr>
            <a:r>
              <a:rPr lang="en-US" sz="120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Tìm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kiếm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&amp;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Lọc</a:t>
            </a:r>
            <a:endParaRPr sz="1200" b="0" i="0" u="none" strike="noStrike" cap="none" dirty="0"/>
          </a:p>
        </p:txBody>
      </p:sp>
      <p:sp>
        <p:nvSpPr>
          <p:cNvPr id="18" name="Google Shape;173;p18"/>
          <p:cNvSpPr/>
          <p:nvPr/>
        </p:nvSpPr>
        <p:spPr>
          <a:xfrm>
            <a:off x="7333100" y="2227370"/>
            <a:ext cx="4427379" cy="371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850"/>
              <a:buFont typeface="Funnel Sans"/>
              <a:buNone/>
            </a:pP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Cho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phép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người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dùng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tìm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kiếm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sản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phẩm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theo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tên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danh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mục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hoặc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các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tiêu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chí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khác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200" b="0" i="0" u="none" strike="noStrike" cap="none" dirty="0"/>
          </a:p>
        </p:txBody>
      </p:sp>
      <p:sp>
        <p:nvSpPr>
          <p:cNvPr id="19" name="Google Shape;174;p18"/>
          <p:cNvSpPr/>
          <p:nvPr/>
        </p:nvSpPr>
        <p:spPr>
          <a:xfrm>
            <a:off x="358735" y="2942868"/>
            <a:ext cx="5521365" cy="374967"/>
          </a:xfrm>
          <a:prstGeom prst="roundRect">
            <a:avLst>
              <a:gd name="adj" fmla="val 480114"/>
            </a:avLst>
          </a:prstGeom>
          <a:solidFill>
            <a:srgbClr val="E2E4E9"/>
          </a:solidFill>
          <a:ln w="952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pic>
        <p:nvPicPr>
          <p:cNvPr id="20" name="Google Shape;175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3111" y="3062684"/>
            <a:ext cx="270589" cy="255151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76;p18"/>
          <p:cNvSpPr/>
          <p:nvPr/>
        </p:nvSpPr>
        <p:spPr>
          <a:xfrm>
            <a:off x="472083" y="3431183"/>
            <a:ext cx="1417558" cy="177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Mona Sans"/>
              <a:buNone/>
            </a:pPr>
            <a:r>
              <a:rPr lang="en-US" sz="1200" b="0" i="0" u="none" strike="noStrike" cap="non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Giỏ hàng</a:t>
            </a:r>
            <a:endParaRPr sz="1200" b="0" i="0" u="none" strike="noStrike" cap="none"/>
          </a:p>
        </p:txBody>
      </p:sp>
      <p:sp>
        <p:nvSpPr>
          <p:cNvPr id="22" name="Google Shape;177;p18"/>
          <p:cNvSpPr/>
          <p:nvPr/>
        </p:nvSpPr>
        <p:spPr>
          <a:xfrm>
            <a:off x="472083" y="3608348"/>
            <a:ext cx="5408017" cy="409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850"/>
              <a:buFont typeface="Funnel Sans"/>
              <a:buNone/>
            </a:pP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Tính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năng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thêm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/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bớt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sản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phẩm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vào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giỏ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hàng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xem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tổng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tiền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tiến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hành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"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thanh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toán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"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mô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phỏng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200" b="0" i="0" u="none" strike="noStrike" cap="none" dirty="0"/>
          </a:p>
        </p:txBody>
      </p:sp>
      <p:sp>
        <p:nvSpPr>
          <p:cNvPr id="23" name="Google Shape;178;p18"/>
          <p:cNvSpPr/>
          <p:nvPr/>
        </p:nvSpPr>
        <p:spPr>
          <a:xfrm>
            <a:off x="7220308" y="2942868"/>
            <a:ext cx="4489095" cy="374967"/>
          </a:xfrm>
          <a:prstGeom prst="roundRect">
            <a:avLst>
              <a:gd name="adj" fmla="val 480114"/>
            </a:avLst>
          </a:prstGeom>
          <a:solidFill>
            <a:srgbClr val="E2E4E9"/>
          </a:solidFill>
          <a:ln w="952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pic>
        <p:nvPicPr>
          <p:cNvPr id="24" name="Google Shape;179;p1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9546790" y="3008692"/>
            <a:ext cx="240149" cy="278367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180;p18"/>
          <p:cNvSpPr/>
          <p:nvPr/>
        </p:nvSpPr>
        <p:spPr>
          <a:xfrm>
            <a:off x="7447121" y="3431183"/>
            <a:ext cx="1417558" cy="177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Mona Sans"/>
              <a:buNone/>
            </a:pPr>
            <a:r>
              <a:rPr lang="en-US" sz="1200" b="0" i="0" u="none" strike="noStrike" cap="non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Đăng nhập/Đăng ký</a:t>
            </a:r>
            <a:endParaRPr sz="1200" b="0" i="0" u="none" strike="noStrike" cap="none"/>
          </a:p>
        </p:txBody>
      </p:sp>
      <p:sp>
        <p:nvSpPr>
          <p:cNvPr id="26" name="Google Shape;181;p18"/>
          <p:cNvSpPr/>
          <p:nvPr/>
        </p:nvSpPr>
        <p:spPr>
          <a:xfrm>
            <a:off x="7447121" y="3676333"/>
            <a:ext cx="4528979" cy="748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850"/>
              <a:buFont typeface="Funnel Sans"/>
              <a:buNone/>
            </a:pP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Mô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phỏng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chức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năng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đăng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nhập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đăng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ký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để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minh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họa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một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phần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hệ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thống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200" b="0" i="0" u="none" strike="noStrike" cap="none" dirty="0"/>
          </a:p>
        </p:txBody>
      </p:sp>
      <p:sp>
        <p:nvSpPr>
          <p:cNvPr id="27" name="Google Shape;182;p18"/>
          <p:cNvSpPr/>
          <p:nvPr/>
        </p:nvSpPr>
        <p:spPr>
          <a:xfrm>
            <a:off x="752593" y="4341495"/>
            <a:ext cx="1701165" cy="21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1300"/>
              <a:buFont typeface="Mona Sans"/>
              <a:buNone/>
            </a:pPr>
            <a:r>
              <a:rPr lang="en-US" sz="19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Lưu</a:t>
            </a:r>
            <a:r>
              <a:rPr lang="en-US" sz="19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19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trữ</a:t>
            </a:r>
            <a:r>
              <a:rPr lang="en-US" sz="19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19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dữ</a:t>
            </a:r>
            <a:r>
              <a:rPr lang="en-US" sz="19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19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liệu</a:t>
            </a:r>
            <a:endParaRPr sz="1900" b="0" i="0" u="none" strike="noStrike" cap="none" dirty="0"/>
          </a:p>
        </p:txBody>
      </p:sp>
      <p:sp>
        <p:nvSpPr>
          <p:cNvPr id="28" name="Google Shape;183;p18"/>
          <p:cNvSpPr/>
          <p:nvPr/>
        </p:nvSpPr>
        <p:spPr>
          <a:xfrm>
            <a:off x="574793" y="4808419"/>
            <a:ext cx="4517907" cy="367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850"/>
              <a:buFont typeface="Funnel Sans"/>
              <a:buNone/>
            </a:pPr>
            <a:r>
              <a:rPr lang="en-US" sz="12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Dữ</a:t>
            </a:r>
            <a:r>
              <a:rPr lang="en-US" sz="12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liệu</a:t>
            </a:r>
            <a:r>
              <a:rPr lang="en-US" sz="12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sản</a:t>
            </a:r>
            <a:r>
              <a:rPr lang="en-US" sz="12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phẩm</a:t>
            </a:r>
            <a:r>
              <a:rPr lang="en-US" sz="12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: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Được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lưu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trữ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trong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file JSON,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hoạt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động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như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một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API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giả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lập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200" b="0" i="0" u="none" strike="noStrike" cap="none" dirty="0"/>
          </a:p>
        </p:txBody>
      </p:sp>
      <p:sp>
        <p:nvSpPr>
          <p:cNvPr id="29" name="Google Shape;184;p18"/>
          <p:cNvSpPr/>
          <p:nvPr/>
        </p:nvSpPr>
        <p:spPr>
          <a:xfrm>
            <a:off x="574792" y="5581591"/>
            <a:ext cx="4125317" cy="500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850"/>
              <a:buFont typeface="Funnel Sans"/>
              <a:buNone/>
            </a:pPr>
            <a:r>
              <a:rPr lang="en-US" sz="12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Giỏ</a:t>
            </a:r>
            <a:r>
              <a:rPr lang="en-US" sz="12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hàng</a:t>
            </a:r>
            <a:r>
              <a:rPr lang="en-US" sz="1200" b="1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: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Sử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dụng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1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LocalStorage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của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trình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duyệt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để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lưu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trữ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tạm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thời</a:t>
            </a:r>
            <a:r>
              <a:rPr lang="en-US" sz="12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200" b="0" i="0" u="none" strike="noStrike" cap="none" dirty="0"/>
          </a:p>
        </p:txBody>
      </p:sp>
    </p:spTree>
    <p:extLst>
      <p:ext uri="{BB962C8B-B14F-4D97-AF65-F5344CB8AC3E}">
        <p14:creationId xmlns:p14="http://schemas.microsoft.com/office/powerpoint/2010/main" val="3523412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1;p19"/>
          <p:cNvSpPr/>
          <p:nvPr/>
        </p:nvSpPr>
        <p:spPr>
          <a:xfrm>
            <a:off x="319018" y="0"/>
            <a:ext cx="5815210" cy="63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000"/>
              <a:buFont typeface="Mona Sans"/>
              <a:buNone/>
            </a:pPr>
            <a:r>
              <a:rPr lang="en-US" sz="40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Cấu</a:t>
            </a:r>
            <a:r>
              <a:rPr lang="en-US" sz="40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40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trúc</a:t>
            </a:r>
            <a:r>
              <a:rPr lang="en-US" sz="40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40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dữ</a:t>
            </a:r>
            <a:r>
              <a:rPr lang="en-US" sz="40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40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liệu</a:t>
            </a:r>
            <a:r>
              <a:rPr lang="en-US" sz="40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JSON</a:t>
            </a:r>
            <a:endParaRPr sz="4000" b="0" i="0" u="none" strike="noStrike" cap="none" dirty="0"/>
          </a:p>
        </p:txBody>
      </p:sp>
      <p:sp>
        <p:nvSpPr>
          <p:cNvPr id="5" name="Google Shape;192;p19"/>
          <p:cNvSpPr/>
          <p:nvPr/>
        </p:nvSpPr>
        <p:spPr>
          <a:xfrm>
            <a:off x="319018" y="585866"/>
            <a:ext cx="11644512" cy="554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00"/>
              <a:buFont typeface="Funnel Sans"/>
              <a:buNone/>
            </a:pP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Dữ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liệu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sản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phẩm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được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tổ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chức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dưới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dạng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các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đối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tượng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JSON,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mỗi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đối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tượng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đại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diện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cho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một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sản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phẩm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với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các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thuộc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tính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cụ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thể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:</a:t>
            </a:r>
            <a:endParaRPr sz="1600" b="0" i="0" u="none" strike="noStrike" cap="none" dirty="0"/>
          </a:p>
        </p:txBody>
      </p:sp>
      <p:sp>
        <p:nvSpPr>
          <p:cNvPr id="6" name="Google Shape;193;p19"/>
          <p:cNvSpPr/>
          <p:nvPr/>
        </p:nvSpPr>
        <p:spPr>
          <a:xfrm>
            <a:off x="255389" y="1280405"/>
            <a:ext cx="5878839" cy="1186894"/>
          </a:xfrm>
          <a:prstGeom prst="roundRect">
            <a:avLst>
              <a:gd name="adj" fmla="val 7195"/>
            </a:avLst>
          </a:prstGeom>
          <a:solidFill>
            <a:srgbClr val="E2E4E9"/>
          </a:solidFill>
          <a:ln w="952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94;p19"/>
          <p:cNvSpPr/>
          <p:nvPr/>
        </p:nvSpPr>
        <p:spPr>
          <a:xfrm>
            <a:off x="466606" y="1491623"/>
            <a:ext cx="2760017" cy="317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000"/>
              <a:buFont typeface="Mona Sans"/>
              <a:buNone/>
            </a:pPr>
            <a:r>
              <a:rPr lang="en-US" sz="2000" b="0" i="0" u="none" strike="noStrike" cap="non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id</a:t>
            </a:r>
            <a:endParaRPr sz="2000" b="0" i="0" u="none" strike="noStrike" cap="none"/>
          </a:p>
        </p:txBody>
      </p:sp>
      <p:sp>
        <p:nvSpPr>
          <p:cNvPr id="8" name="Google Shape;195;p19"/>
          <p:cNvSpPr/>
          <p:nvPr/>
        </p:nvSpPr>
        <p:spPr>
          <a:xfrm>
            <a:off x="466607" y="1931916"/>
            <a:ext cx="6592018" cy="325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00"/>
              <a:buFont typeface="Funnel Sans"/>
              <a:buNone/>
            </a:pPr>
            <a:r>
              <a:rPr lang="en-US" sz="1600" b="0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Mã định danh duy nhất của sản phẩm.</a:t>
            </a:r>
            <a:endParaRPr sz="1600" b="0" i="0" u="none" strike="noStrike" cap="none"/>
          </a:p>
        </p:txBody>
      </p:sp>
      <p:sp>
        <p:nvSpPr>
          <p:cNvPr id="9" name="Google Shape;196;p19"/>
          <p:cNvSpPr/>
          <p:nvPr/>
        </p:nvSpPr>
        <p:spPr>
          <a:xfrm>
            <a:off x="6591300" y="1280405"/>
            <a:ext cx="5168901" cy="1186894"/>
          </a:xfrm>
          <a:prstGeom prst="roundRect">
            <a:avLst>
              <a:gd name="adj" fmla="val 7195"/>
            </a:avLst>
          </a:prstGeom>
          <a:solidFill>
            <a:srgbClr val="E2E4E9"/>
          </a:solidFill>
          <a:ln w="952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97;p19"/>
          <p:cNvSpPr/>
          <p:nvPr/>
        </p:nvSpPr>
        <p:spPr>
          <a:xfrm>
            <a:off x="6925608" y="1465561"/>
            <a:ext cx="2760017" cy="317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000"/>
              <a:buFont typeface="Mona Sans"/>
              <a:buNone/>
            </a:pPr>
            <a:r>
              <a:rPr lang="en-US" sz="200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name</a:t>
            </a:r>
            <a:endParaRPr sz="2000" b="0" i="0" u="none" strike="noStrike" cap="none" dirty="0"/>
          </a:p>
        </p:txBody>
      </p:sp>
      <p:sp>
        <p:nvSpPr>
          <p:cNvPr id="11" name="Google Shape;198;p19"/>
          <p:cNvSpPr/>
          <p:nvPr/>
        </p:nvSpPr>
        <p:spPr>
          <a:xfrm>
            <a:off x="6967631" y="1905854"/>
            <a:ext cx="6592018" cy="325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00"/>
              <a:buFont typeface="Funnel Sans"/>
              <a:buNone/>
            </a:pP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Tên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đầy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đủ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của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sản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phẩm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600" b="0" i="0" u="none" strike="noStrike" cap="none" dirty="0"/>
          </a:p>
        </p:txBody>
      </p:sp>
      <p:sp>
        <p:nvSpPr>
          <p:cNvPr id="12" name="Google Shape;199;p19"/>
          <p:cNvSpPr/>
          <p:nvPr/>
        </p:nvSpPr>
        <p:spPr>
          <a:xfrm>
            <a:off x="255389" y="2672484"/>
            <a:ext cx="5878839" cy="1186894"/>
          </a:xfrm>
          <a:prstGeom prst="roundRect">
            <a:avLst>
              <a:gd name="adj" fmla="val 7195"/>
            </a:avLst>
          </a:prstGeom>
          <a:solidFill>
            <a:srgbClr val="E2E4E9"/>
          </a:solidFill>
          <a:ln w="952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00;p19"/>
          <p:cNvSpPr/>
          <p:nvPr/>
        </p:nvSpPr>
        <p:spPr>
          <a:xfrm>
            <a:off x="466606" y="2883702"/>
            <a:ext cx="2760017" cy="317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000"/>
              <a:buFont typeface="Mona Sans"/>
              <a:buNone/>
            </a:pPr>
            <a:r>
              <a:rPr lang="en-US" sz="2000" b="0" i="0" u="none" strike="noStrike" cap="non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price</a:t>
            </a:r>
            <a:endParaRPr sz="2000" b="0" i="0" u="none" strike="noStrike" cap="none"/>
          </a:p>
        </p:txBody>
      </p:sp>
      <p:sp>
        <p:nvSpPr>
          <p:cNvPr id="14" name="Google Shape;201;p19"/>
          <p:cNvSpPr/>
          <p:nvPr/>
        </p:nvSpPr>
        <p:spPr>
          <a:xfrm>
            <a:off x="466607" y="3323995"/>
            <a:ext cx="6592018" cy="325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00"/>
              <a:buFont typeface="Funnel Sans"/>
              <a:buNone/>
            </a:pPr>
            <a:r>
              <a:rPr lang="en-US" sz="1600" b="0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Giá bán sản phẩm (số nguyên hoặc số thực).</a:t>
            </a:r>
            <a:endParaRPr sz="1600" b="0" i="0" u="none" strike="noStrike" cap="none"/>
          </a:p>
        </p:txBody>
      </p:sp>
      <p:sp>
        <p:nvSpPr>
          <p:cNvPr id="15" name="Google Shape;202;p19"/>
          <p:cNvSpPr/>
          <p:nvPr/>
        </p:nvSpPr>
        <p:spPr>
          <a:xfrm>
            <a:off x="6591300" y="2672484"/>
            <a:ext cx="5168901" cy="1186894"/>
          </a:xfrm>
          <a:prstGeom prst="roundRect">
            <a:avLst>
              <a:gd name="adj" fmla="val 7195"/>
            </a:avLst>
          </a:prstGeom>
          <a:solidFill>
            <a:srgbClr val="E2E4E9"/>
          </a:solidFill>
          <a:ln w="952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203;p19"/>
          <p:cNvSpPr/>
          <p:nvPr/>
        </p:nvSpPr>
        <p:spPr>
          <a:xfrm>
            <a:off x="6925608" y="2755323"/>
            <a:ext cx="2760017" cy="317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000"/>
              <a:buFont typeface="Mona Sans"/>
              <a:buNone/>
            </a:pPr>
            <a:r>
              <a:rPr lang="en-US" sz="200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category</a:t>
            </a:r>
            <a:endParaRPr sz="2000" b="0" i="0" u="none" strike="noStrike" cap="none" dirty="0"/>
          </a:p>
        </p:txBody>
      </p:sp>
      <p:sp>
        <p:nvSpPr>
          <p:cNvPr id="17" name="Google Shape;204;p19"/>
          <p:cNvSpPr/>
          <p:nvPr/>
        </p:nvSpPr>
        <p:spPr>
          <a:xfrm>
            <a:off x="6925608" y="3113932"/>
            <a:ext cx="4593292" cy="651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00"/>
              <a:buFont typeface="Funnel Sans"/>
              <a:buNone/>
            </a:pP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Danh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mục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phân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loại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sản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phẩm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(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ví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dụ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: "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Nhẫn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", "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Dây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chuyền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").</a:t>
            </a:r>
            <a:endParaRPr sz="1600" b="0" i="0" u="none" strike="noStrike" cap="none" dirty="0"/>
          </a:p>
        </p:txBody>
      </p:sp>
      <p:sp>
        <p:nvSpPr>
          <p:cNvPr id="18" name="Google Shape;205;p19"/>
          <p:cNvSpPr/>
          <p:nvPr/>
        </p:nvSpPr>
        <p:spPr>
          <a:xfrm>
            <a:off x="255389" y="4064563"/>
            <a:ext cx="5878839" cy="1186894"/>
          </a:xfrm>
          <a:prstGeom prst="roundRect">
            <a:avLst>
              <a:gd name="adj" fmla="val 7195"/>
            </a:avLst>
          </a:prstGeom>
          <a:solidFill>
            <a:srgbClr val="E2E4E9"/>
          </a:solidFill>
          <a:ln w="952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206;p19"/>
          <p:cNvSpPr/>
          <p:nvPr/>
        </p:nvSpPr>
        <p:spPr>
          <a:xfrm>
            <a:off x="466606" y="4275781"/>
            <a:ext cx="2760017" cy="317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000"/>
              <a:buFont typeface="Mona Sans"/>
              <a:buNone/>
            </a:pPr>
            <a:r>
              <a:rPr lang="en-US" sz="2000" b="0" i="0" u="none" strike="noStrike" cap="non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material</a:t>
            </a:r>
            <a:endParaRPr sz="2000" b="0" i="0" u="none" strike="noStrike" cap="none"/>
          </a:p>
        </p:txBody>
      </p:sp>
      <p:sp>
        <p:nvSpPr>
          <p:cNvPr id="20" name="Google Shape;207;p19"/>
          <p:cNvSpPr/>
          <p:nvPr/>
        </p:nvSpPr>
        <p:spPr>
          <a:xfrm>
            <a:off x="466607" y="4716074"/>
            <a:ext cx="6592018" cy="325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00"/>
              <a:buFont typeface="Funnel Sans"/>
              <a:buNone/>
            </a:pPr>
            <a:r>
              <a:rPr lang="en-US" sz="1600" b="0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Vật liệu chế tác (ví dụ: "Vàng 18K", "Bạc S925").</a:t>
            </a:r>
            <a:endParaRPr sz="1600" b="0" i="0" u="none" strike="noStrike" cap="none"/>
          </a:p>
        </p:txBody>
      </p:sp>
      <p:sp>
        <p:nvSpPr>
          <p:cNvPr id="21" name="Google Shape;208;p19"/>
          <p:cNvSpPr/>
          <p:nvPr/>
        </p:nvSpPr>
        <p:spPr>
          <a:xfrm>
            <a:off x="6591300" y="4052618"/>
            <a:ext cx="5168901" cy="1186894"/>
          </a:xfrm>
          <a:prstGeom prst="roundRect">
            <a:avLst>
              <a:gd name="adj" fmla="val 7195"/>
            </a:avLst>
          </a:prstGeom>
          <a:solidFill>
            <a:srgbClr val="E2E4E9"/>
          </a:solidFill>
          <a:ln w="952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09;p19"/>
          <p:cNvSpPr/>
          <p:nvPr/>
        </p:nvSpPr>
        <p:spPr>
          <a:xfrm>
            <a:off x="7058625" y="4251605"/>
            <a:ext cx="2760017" cy="317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000"/>
              <a:buFont typeface="Mona Sans"/>
              <a:buNone/>
            </a:pPr>
            <a:r>
              <a:rPr lang="en-US" sz="200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image</a:t>
            </a:r>
            <a:endParaRPr sz="2000" b="0" i="0" u="none" strike="noStrike" cap="none" dirty="0"/>
          </a:p>
        </p:txBody>
      </p:sp>
      <p:sp>
        <p:nvSpPr>
          <p:cNvPr id="23" name="Google Shape;210;p19"/>
          <p:cNvSpPr/>
          <p:nvPr/>
        </p:nvSpPr>
        <p:spPr>
          <a:xfrm>
            <a:off x="6925608" y="4516852"/>
            <a:ext cx="4593292" cy="524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00"/>
              <a:buFont typeface="Funnel Sans"/>
              <a:buNone/>
            </a:pP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Đường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dẫn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đến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hình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ảnh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minh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họa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sản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phẩm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600" b="0" i="0" u="none" strike="noStrike" cap="none" dirty="0"/>
          </a:p>
        </p:txBody>
      </p:sp>
      <p:sp>
        <p:nvSpPr>
          <p:cNvPr id="24" name="Google Shape;211;p19"/>
          <p:cNvSpPr/>
          <p:nvPr/>
        </p:nvSpPr>
        <p:spPr>
          <a:xfrm>
            <a:off x="237541" y="5456642"/>
            <a:ext cx="5896687" cy="1186894"/>
          </a:xfrm>
          <a:prstGeom prst="roundRect">
            <a:avLst>
              <a:gd name="adj" fmla="val 7195"/>
            </a:avLst>
          </a:prstGeom>
          <a:solidFill>
            <a:srgbClr val="E2E4E9"/>
          </a:solidFill>
          <a:ln w="952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12;p19"/>
          <p:cNvSpPr/>
          <p:nvPr/>
        </p:nvSpPr>
        <p:spPr>
          <a:xfrm>
            <a:off x="466606" y="5667860"/>
            <a:ext cx="2760017" cy="317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000"/>
              <a:buFont typeface="Mona Sans"/>
              <a:buNone/>
            </a:pPr>
            <a:r>
              <a:rPr lang="en-US" sz="2000" b="0" i="0" u="none" strike="noStrike" cap="non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description</a:t>
            </a:r>
            <a:endParaRPr sz="2000" b="0" i="0" u="none" strike="noStrike" cap="none"/>
          </a:p>
        </p:txBody>
      </p:sp>
      <p:sp>
        <p:nvSpPr>
          <p:cNvPr id="26" name="Google Shape;213;p19"/>
          <p:cNvSpPr/>
          <p:nvPr/>
        </p:nvSpPr>
        <p:spPr>
          <a:xfrm>
            <a:off x="466607" y="6108153"/>
            <a:ext cx="6592018" cy="325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00"/>
              <a:buFont typeface="Funnel Sans"/>
              <a:buNone/>
            </a:pPr>
            <a:r>
              <a:rPr lang="en-US" sz="1600" b="0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Mô tả chi tiết về sản phẩm.</a:t>
            </a:r>
            <a:endParaRPr sz="1600" b="0" i="0" u="none" strike="noStrike" cap="none"/>
          </a:p>
        </p:txBody>
      </p:sp>
      <p:sp>
        <p:nvSpPr>
          <p:cNvPr id="27" name="Google Shape;214;p19"/>
          <p:cNvSpPr/>
          <p:nvPr/>
        </p:nvSpPr>
        <p:spPr>
          <a:xfrm>
            <a:off x="6591300" y="5456642"/>
            <a:ext cx="5168901" cy="1186894"/>
          </a:xfrm>
          <a:prstGeom prst="roundRect">
            <a:avLst>
              <a:gd name="adj" fmla="val 7195"/>
            </a:avLst>
          </a:prstGeom>
          <a:solidFill>
            <a:srgbClr val="E2E4E9"/>
          </a:solidFill>
          <a:ln w="952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15;p19"/>
          <p:cNvSpPr/>
          <p:nvPr/>
        </p:nvSpPr>
        <p:spPr>
          <a:xfrm>
            <a:off x="7058625" y="5629213"/>
            <a:ext cx="2760017" cy="317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000"/>
              <a:buFont typeface="Mona Sans"/>
              <a:buNone/>
            </a:pPr>
            <a:r>
              <a:rPr lang="en-US" sz="200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featured</a:t>
            </a:r>
            <a:endParaRPr sz="2000" b="0" i="0" u="none" strike="noStrike" cap="none" dirty="0"/>
          </a:p>
        </p:txBody>
      </p:sp>
      <p:sp>
        <p:nvSpPr>
          <p:cNvPr id="29" name="Google Shape;216;p19"/>
          <p:cNvSpPr/>
          <p:nvPr/>
        </p:nvSpPr>
        <p:spPr>
          <a:xfrm>
            <a:off x="6925608" y="5985570"/>
            <a:ext cx="4347884" cy="69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00"/>
              <a:buFont typeface="Funnel Sans"/>
              <a:buNone/>
            </a:pP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Giá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trị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boolean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(true/false)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đánh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dấu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sản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phẩm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nổi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6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bật</a:t>
            </a:r>
            <a:r>
              <a:rPr lang="en-US" sz="16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600" b="0" i="0" u="none" strike="noStrike" cap="none" dirty="0"/>
          </a:p>
        </p:txBody>
      </p:sp>
    </p:spTree>
    <p:extLst>
      <p:ext uri="{BB962C8B-B14F-4D97-AF65-F5344CB8AC3E}">
        <p14:creationId xmlns:p14="http://schemas.microsoft.com/office/powerpoint/2010/main" val="956696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22;p20"/>
          <p:cNvSpPr/>
          <p:nvPr/>
        </p:nvSpPr>
        <p:spPr>
          <a:xfrm>
            <a:off x="294640" y="2283"/>
            <a:ext cx="7655600" cy="693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350"/>
              <a:buFont typeface="Mona Sans"/>
              <a:buNone/>
            </a:pPr>
            <a:r>
              <a:rPr lang="en-US" sz="435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Fetch API </a:t>
            </a:r>
            <a:r>
              <a:rPr lang="en-US" sz="435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và</a:t>
            </a:r>
            <a:r>
              <a:rPr lang="en-US" sz="435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435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cách</a:t>
            </a:r>
            <a:r>
              <a:rPr lang="en-US" sz="435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435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hoạt</a:t>
            </a:r>
            <a:r>
              <a:rPr lang="en-US" sz="435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435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động</a:t>
            </a:r>
            <a:endParaRPr sz="4350" b="0" i="0" u="none" strike="noStrike" cap="none" dirty="0"/>
          </a:p>
        </p:txBody>
      </p:sp>
      <p:pic>
        <p:nvPicPr>
          <p:cNvPr id="5" name="Google Shape;223;p20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3041" y="1142960"/>
            <a:ext cx="5255260" cy="8883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24;p20"/>
          <p:cNvSpPr/>
          <p:nvPr/>
        </p:nvSpPr>
        <p:spPr>
          <a:xfrm>
            <a:off x="415092" y="1764021"/>
            <a:ext cx="3321844" cy="34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150"/>
              <a:buFont typeface="Mona Sans"/>
              <a:buNone/>
            </a:pPr>
            <a:r>
              <a:rPr lang="en-US" sz="21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1. </a:t>
            </a:r>
            <a:r>
              <a:rPr lang="en-US" sz="21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Gọi</a:t>
            </a:r>
            <a:r>
              <a:rPr lang="en-US" sz="21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1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dữ</a:t>
            </a:r>
            <a:r>
              <a:rPr lang="en-US" sz="21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1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liệu</a:t>
            </a:r>
            <a:r>
              <a:rPr lang="en-US" sz="21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1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bất</a:t>
            </a:r>
            <a:r>
              <a:rPr lang="en-US" sz="21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1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đồng</a:t>
            </a:r>
            <a:r>
              <a:rPr lang="en-US" sz="21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1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bộ</a:t>
            </a:r>
            <a:endParaRPr sz="2150" b="0" i="0" u="none" strike="noStrike" cap="none" dirty="0"/>
          </a:p>
        </p:txBody>
      </p:sp>
      <p:sp>
        <p:nvSpPr>
          <p:cNvPr id="7" name="Google Shape;225;p20"/>
          <p:cNvSpPr/>
          <p:nvPr/>
        </p:nvSpPr>
        <p:spPr>
          <a:xfrm>
            <a:off x="378263" y="2226181"/>
            <a:ext cx="5236408" cy="129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00"/>
              <a:buFont typeface="Funnel Sans"/>
              <a:buNone/>
            </a:pP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Fetch API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cho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phép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gửi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yêu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cầu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HTTP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để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lấy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dữ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liệu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JSON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từ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server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giả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lập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(JSON Server)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mà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không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làm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tải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lại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toàn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bộ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trang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700" b="0" i="0" u="none" strike="noStrike" cap="none" dirty="0"/>
          </a:p>
        </p:txBody>
      </p:sp>
      <p:pic>
        <p:nvPicPr>
          <p:cNvPr id="8" name="Google Shape;226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41966" y="809823"/>
            <a:ext cx="4918234" cy="88832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27;p20"/>
          <p:cNvSpPr/>
          <p:nvPr/>
        </p:nvSpPr>
        <p:spPr>
          <a:xfrm>
            <a:off x="7064018" y="1698149"/>
            <a:ext cx="3200876" cy="34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150"/>
              <a:buFont typeface="Mona Sans"/>
              <a:buNone/>
            </a:pPr>
            <a:r>
              <a:rPr lang="en-US" sz="2150" b="0" i="0" u="none" strike="noStrike" cap="non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2. Xử lý phản hồi &amp; DOM</a:t>
            </a:r>
            <a:endParaRPr sz="2150" b="0" i="0" u="none" strike="noStrike" cap="none"/>
          </a:p>
        </p:txBody>
      </p:sp>
      <p:sp>
        <p:nvSpPr>
          <p:cNvPr id="10" name="Google Shape;228;p20"/>
          <p:cNvSpPr/>
          <p:nvPr/>
        </p:nvSpPr>
        <p:spPr>
          <a:xfrm>
            <a:off x="7064019" y="2178447"/>
            <a:ext cx="4899382" cy="1750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00"/>
              <a:buFont typeface="Funnel Sans"/>
              <a:buNone/>
            </a:pP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Sau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khi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nhận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được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dữ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liệu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JSON, JavaScript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sẽ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xử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lý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thao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tác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với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DOM (Document Object Model)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để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tạo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hiển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thị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các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phần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tử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sản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phẩm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động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trên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trang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700" b="0" i="0" u="none" strike="noStrike" cap="none" dirty="0"/>
          </a:p>
        </p:txBody>
      </p:sp>
      <p:pic>
        <p:nvPicPr>
          <p:cNvPr id="11" name="Google Shape;229;p20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7237" y="3820934"/>
            <a:ext cx="5458459" cy="83425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30;p20"/>
          <p:cNvSpPr/>
          <p:nvPr/>
        </p:nvSpPr>
        <p:spPr>
          <a:xfrm>
            <a:off x="341194" y="4562793"/>
            <a:ext cx="4650938" cy="34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150"/>
              <a:buFont typeface="Mona Sans"/>
              <a:buNone/>
            </a:pPr>
            <a:r>
              <a:rPr lang="en-US" sz="21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3. </a:t>
            </a:r>
            <a:r>
              <a:rPr lang="en-US" sz="21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Cải</a:t>
            </a:r>
            <a:r>
              <a:rPr lang="en-US" sz="21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1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thiện</a:t>
            </a:r>
            <a:r>
              <a:rPr lang="en-US" sz="21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1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trải</a:t>
            </a:r>
            <a:r>
              <a:rPr lang="en-US" sz="21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1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nghiệm</a:t>
            </a:r>
            <a:r>
              <a:rPr lang="en-US" sz="21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1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người</a:t>
            </a:r>
            <a:r>
              <a:rPr lang="en-US" sz="21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1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dùng</a:t>
            </a:r>
            <a:endParaRPr sz="2150" b="0" i="0" u="none" strike="noStrike" cap="none" dirty="0"/>
          </a:p>
        </p:txBody>
      </p:sp>
      <p:sp>
        <p:nvSpPr>
          <p:cNvPr id="13" name="Google Shape;231;p20"/>
          <p:cNvSpPr/>
          <p:nvPr/>
        </p:nvSpPr>
        <p:spPr>
          <a:xfrm>
            <a:off x="415092" y="5181940"/>
            <a:ext cx="5388808" cy="1262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00"/>
              <a:buFont typeface="Funnel Sans"/>
              <a:buNone/>
            </a:pP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Việc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tải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dữ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liệu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không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đồng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bộ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giúp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website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mượt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mà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hơn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giảm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thời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gian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chờ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tăng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sự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hài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lòng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của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người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dùng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700" b="0" i="0" u="none" strike="noStrike" cap="none" dirty="0"/>
          </a:p>
        </p:txBody>
      </p:sp>
      <p:pic>
        <p:nvPicPr>
          <p:cNvPr id="14" name="Google Shape;232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41966" y="4021534"/>
            <a:ext cx="5007134" cy="88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233;p20"/>
          <p:cNvSpPr/>
          <p:nvPr/>
        </p:nvSpPr>
        <p:spPr>
          <a:xfrm>
            <a:off x="7064018" y="4655186"/>
            <a:ext cx="2935248" cy="34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150"/>
              <a:buFont typeface="Mona Sans"/>
              <a:buNone/>
            </a:pPr>
            <a:r>
              <a:rPr lang="en-US" sz="21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4. </a:t>
            </a:r>
            <a:r>
              <a:rPr lang="en-US" sz="21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Giảm</a:t>
            </a:r>
            <a:r>
              <a:rPr lang="en-US" sz="21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1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tải</a:t>
            </a:r>
            <a:r>
              <a:rPr lang="en-US" sz="21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21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cho</a:t>
            </a:r>
            <a:r>
              <a:rPr lang="en-US" sz="21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Server</a:t>
            </a:r>
            <a:endParaRPr sz="2150" b="0" i="0" u="none" strike="noStrike" cap="none" dirty="0"/>
          </a:p>
        </p:txBody>
      </p:sp>
      <p:sp>
        <p:nvSpPr>
          <p:cNvPr id="16" name="Google Shape;234;p20"/>
          <p:cNvSpPr/>
          <p:nvPr/>
        </p:nvSpPr>
        <p:spPr>
          <a:xfrm>
            <a:off x="7064018" y="5071924"/>
            <a:ext cx="4899383" cy="1302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00"/>
              <a:buFont typeface="Funnel Sans"/>
              <a:buNone/>
            </a:pP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Với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cách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tiếp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cận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này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các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yêu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cầu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dữ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liệu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đơn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giản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được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xử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lý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hiệu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quả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ở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phía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client,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giảm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gánh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nặng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cho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server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thật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(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nếu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có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).</a:t>
            </a:r>
            <a:endParaRPr sz="1700" b="0" i="0" u="none" strike="noStrike" cap="none" dirty="0"/>
          </a:p>
        </p:txBody>
      </p:sp>
    </p:spTree>
    <p:extLst>
      <p:ext uri="{BB962C8B-B14F-4D97-AF65-F5344CB8AC3E}">
        <p14:creationId xmlns:p14="http://schemas.microsoft.com/office/powerpoint/2010/main" val="394207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40;p21"/>
          <p:cNvSpPr/>
          <p:nvPr/>
        </p:nvSpPr>
        <p:spPr>
          <a:xfrm>
            <a:off x="563721" y="316177"/>
            <a:ext cx="5381173" cy="585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96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3150"/>
              <a:buFont typeface="Mona Sans"/>
              <a:buNone/>
            </a:pPr>
            <a:r>
              <a:rPr lang="en-US" sz="315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FETCH API HOẠT ĐỘNG</a:t>
            </a:r>
            <a:endParaRPr sz="3150" b="0" i="0" u="none" strike="noStrike" cap="none" dirty="0"/>
          </a:p>
        </p:txBody>
      </p:sp>
      <p:pic>
        <p:nvPicPr>
          <p:cNvPr id="5" name="Google Shape;241;p21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5759" y="1143244"/>
            <a:ext cx="687291" cy="71076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42;p21"/>
          <p:cNvSpPr/>
          <p:nvPr/>
        </p:nvSpPr>
        <p:spPr>
          <a:xfrm>
            <a:off x="1904214" y="1200315"/>
            <a:ext cx="1718218" cy="185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50"/>
              <a:buFont typeface="Mona Sans"/>
              <a:buNone/>
            </a:pPr>
            <a:r>
              <a:rPr lang="en-US" sz="15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Gửi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request HTTP</a:t>
            </a:r>
            <a:endParaRPr sz="1550" b="0" i="0" u="none" strike="noStrike" cap="none" dirty="0"/>
          </a:p>
        </p:txBody>
      </p:sp>
      <p:sp>
        <p:nvSpPr>
          <p:cNvPr id="7" name="Google Shape;243;p21"/>
          <p:cNvSpPr/>
          <p:nvPr/>
        </p:nvSpPr>
        <p:spPr>
          <a:xfrm>
            <a:off x="1925335" y="1594106"/>
            <a:ext cx="3394194" cy="344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250"/>
              <a:buFont typeface="Funnel Sans"/>
              <a:buNone/>
            </a:pPr>
            <a:r>
              <a:rPr lang="en-US" sz="1250" b="0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Khởi tạo yêu cầu dữ liệu từ máy chủ.</a:t>
            </a:r>
            <a:endParaRPr sz="1250" b="0" i="0" u="none" strike="noStrike" cap="none"/>
          </a:p>
        </p:txBody>
      </p:sp>
      <p:pic>
        <p:nvPicPr>
          <p:cNvPr id="11" name="Google Shape;247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104" y="1143243"/>
            <a:ext cx="694087" cy="71076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48;p21"/>
          <p:cNvSpPr/>
          <p:nvPr/>
        </p:nvSpPr>
        <p:spPr>
          <a:xfrm>
            <a:off x="7126559" y="1276865"/>
            <a:ext cx="2546827" cy="28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50"/>
              <a:buFont typeface="Mona Sans"/>
              <a:buNone/>
            </a:pPr>
            <a:r>
              <a:rPr lang="en-US" sz="15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Parse JSON</a:t>
            </a:r>
            <a:endParaRPr sz="1550" b="0" i="0" u="none" strike="noStrike" cap="none" dirty="0"/>
          </a:p>
        </p:txBody>
      </p:sp>
      <p:sp>
        <p:nvSpPr>
          <p:cNvPr id="13" name="Google Shape;249;p21"/>
          <p:cNvSpPr/>
          <p:nvPr/>
        </p:nvSpPr>
        <p:spPr>
          <a:xfrm>
            <a:off x="7126559" y="1649462"/>
            <a:ext cx="4148216" cy="415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250"/>
              <a:buFont typeface="Funnel Sans"/>
              <a:buNone/>
            </a:pP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Chuyển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đổi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dữ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liệu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JSON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thành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đối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tượng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JavaScript.</a:t>
            </a:r>
            <a:endParaRPr sz="1250" b="0" i="0" u="none" strike="noStrike" cap="none" dirty="0"/>
          </a:p>
        </p:txBody>
      </p:sp>
      <p:pic>
        <p:nvPicPr>
          <p:cNvPr id="14" name="Google Shape;250;p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58104" y="2181503"/>
            <a:ext cx="694087" cy="74000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251;p21"/>
          <p:cNvSpPr/>
          <p:nvPr/>
        </p:nvSpPr>
        <p:spPr>
          <a:xfrm>
            <a:off x="7135218" y="2282210"/>
            <a:ext cx="2046882" cy="350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50"/>
              <a:buFont typeface="Mona Sans"/>
              <a:buNone/>
            </a:pPr>
            <a:r>
              <a:rPr lang="en-US" sz="15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Thao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tác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DOM</a:t>
            </a:r>
            <a:endParaRPr sz="1550" b="0" i="0" u="none" strike="noStrike" cap="none" dirty="0"/>
          </a:p>
        </p:txBody>
      </p:sp>
      <p:sp>
        <p:nvSpPr>
          <p:cNvPr id="16" name="Google Shape;252;p21"/>
          <p:cNvSpPr/>
          <p:nvPr/>
        </p:nvSpPr>
        <p:spPr>
          <a:xfrm>
            <a:off x="7135218" y="2632779"/>
            <a:ext cx="4040782" cy="418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250"/>
              <a:buFont typeface="Funnel Sans"/>
              <a:buNone/>
            </a:pPr>
            <a:r>
              <a:rPr lang="en-US" sz="1250" b="0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Cập nhật cấu trúc trang web với dữ liệu mới.</a:t>
            </a:r>
            <a:endParaRPr sz="1250" b="0" i="0" u="none" strike="noStrike" cap="none"/>
          </a:p>
        </p:txBody>
      </p:sp>
      <p:pic>
        <p:nvPicPr>
          <p:cNvPr id="17" name="Google Shape;253;p2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5760" y="3439691"/>
            <a:ext cx="687291" cy="71076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54;p21"/>
          <p:cNvSpPr/>
          <p:nvPr/>
        </p:nvSpPr>
        <p:spPr>
          <a:xfrm>
            <a:off x="1904214" y="3410369"/>
            <a:ext cx="1718218" cy="185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50"/>
              <a:buFont typeface="Mona Sans"/>
              <a:buNone/>
            </a:pPr>
            <a:r>
              <a:rPr lang="en-US" sz="15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Hiển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thị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giao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diện</a:t>
            </a:r>
            <a:endParaRPr sz="1550" b="0" i="0" u="none" strike="noStrike" cap="none" dirty="0"/>
          </a:p>
        </p:txBody>
      </p:sp>
      <p:sp>
        <p:nvSpPr>
          <p:cNvPr id="19" name="Google Shape;255;p21"/>
          <p:cNvSpPr/>
          <p:nvPr/>
        </p:nvSpPr>
        <p:spPr>
          <a:xfrm>
            <a:off x="1904214" y="3760938"/>
            <a:ext cx="3544086" cy="389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250"/>
              <a:buFont typeface="Funnel Sans"/>
              <a:buNone/>
            </a:pPr>
            <a:r>
              <a:rPr lang="en-US" sz="1250" b="0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Trình duyệt hiển thị nội dung đã cập nhật.</a:t>
            </a:r>
            <a:endParaRPr sz="1250" b="0" i="0" u="none" strike="noStrike" cap="none"/>
          </a:p>
        </p:txBody>
      </p:sp>
      <p:sp>
        <p:nvSpPr>
          <p:cNvPr id="20" name="Google Shape;256;p21"/>
          <p:cNvSpPr/>
          <p:nvPr/>
        </p:nvSpPr>
        <p:spPr>
          <a:xfrm>
            <a:off x="310952" y="4824797"/>
            <a:ext cx="3620998" cy="905471"/>
          </a:xfrm>
          <a:prstGeom prst="roundRect">
            <a:avLst>
              <a:gd name="adj" fmla="val 8893"/>
            </a:avLst>
          </a:prstGeom>
          <a:solidFill>
            <a:srgbClr val="FFFFFF">
              <a:alpha val="94900"/>
            </a:srgbClr>
          </a:solidFill>
          <a:ln w="22850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57;p21"/>
          <p:cNvSpPr/>
          <p:nvPr/>
        </p:nvSpPr>
        <p:spPr>
          <a:xfrm>
            <a:off x="288092" y="4824797"/>
            <a:ext cx="77915" cy="905471"/>
          </a:xfrm>
          <a:prstGeom prst="roundRect">
            <a:avLst>
              <a:gd name="adj" fmla="val 74148"/>
            </a:avLst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58;p21"/>
          <p:cNvSpPr/>
          <p:nvPr/>
        </p:nvSpPr>
        <p:spPr>
          <a:xfrm>
            <a:off x="563721" y="4747713"/>
            <a:ext cx="2310170" cy="357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50"/>
              <a:buFont typeface="Mona Sans"/>
              <a:buNone/>
            </a:pPr>
            <a:r>
              <a:rPr lang="en-US" sz="15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Không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cần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tải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lại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trang</a:t>
            </a:r>
            <a:endParaRPr sz="1550" b="0" i="0" u="none" strike="noStrike" cap="none" dirty="0"/>
          </a:p>
        </p:txBody>
      </p:sp>
      <p:sp>
        <p:nvSpPr>
          <p:cNvPr id="23" name="Google Shape;259;p21"/>
          <p:cNvSpPr/>
          <p:nvPr/>
        </p:nvSpPr>
        <p:spPr>
          <a:xfrm>
            <a:off x="563721" y="5167035"/>
            <a:ext cx="3368229" cy="37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250"/>
              <a:buFont typeface="Funnel Sans"/>
              <a:buNone/>
            </a:pP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Tương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tác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mượt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mà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không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gián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đoạn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mang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lại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trải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nghiệm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người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dùng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liền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mạch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250" b="0" i="0" u="none" strike="noStrike" cap="none" dirty="0"/>
          </a:p>
        </p:txBody>
      </p:sp>
      <p:sp>
        <p:nvSpPr>
          <p:cNvPr id="24" name="Google Shape;260;p21"/>
          <p:cNvSpPr/>
          <p:nvPr/>
        </p:nvSpPr>
        <p:spPr>
          <a:xfrm>
            <a:off x="4191428" y="4807190"/>
            <a:ext cx="3740432" cy="905471"/>
          </a:xfrm>
          <a:prstGeom prst="roundRect">
            <a:avLst>
              <a:gd name="adj" fmla="val 8893"/>
            </a:avLst>
          </a:prstGeom>
          <a:solidFill>
            <a:srgbClr val="FFFFFF">
              <a:alpha val="94900"/>
            </a:srgbClr>
          </a:solidFill>
          <a:ln w="22850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61;p21"/>
          <p:cNvSpPr/>
          <p:nvPr/>
        </p:nvSpPr>
        <p:spPr>
          <a:xfrm>
            <a:off x="4194492" y="4807190"/>
            <a:ext cx="77915" cy="905471"/>
          </a:xfrm>
          <a:prstGeom prst="roundRect">
            <a:avLst>
              <a:gd name="adj" fmla="val 74148"/>
            </a:avLst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2;p21"/>
          <p:cNvSpPr/>
          <p:nvPr/>
        </p:nvSpPr>
        <p:spPr>
          <a:xfrm>
            <a:off x="4519934" y="4747713"/>
            <a:ext cx="2332258" cy="252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50"/>
              <a:buFont typeface="Mona Sans"/>
              <a:buNone/>
            </a:pPr>
            <a:r>
              <a:rPr lang="en-US" sz="15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Tăng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tốc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độ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phản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hồi</a:t>
            </a:r>
            <a:endParaRPr sz="1550" b="0" i="0" u="none" strike="noStrike" cap="none" dirty="0"/>
          </a:p>
        </p:txBody>
      </p:sp>
      <p:sp>
        <p:nvSpPr>
          <p:cNvPr id="27" name="Google Shape;263;p21"/>
          <p:cNvSpPr/>
          <p:nvPr/>
        </p:nvSpPr>
        <p:spPr>
          <a:xfrm>
            <a:off x="4399414" y="5070377"/>
            <a:ext cx="3368229" cy="37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250"/>
              <a:buFont typeface="Funnel Sans"/>
              <a:buNone/>
            </a:pP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Cải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thiện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đáng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kể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hiệu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suất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sự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hài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lòng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của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người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dùng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250" b="0" i="0" u="none" strike="noStrike" cap="none" dirty="0"/>
          </a:p>
        </p:txBody>
      </p:sp>
      <p:sp>
        <p:nvSpPr>
          <p:cNvPr id="28" name="Google Shape;264;p21"/>
          <p:cNvSpPr/>
          <p:nvPr/>
        </p:nvSpPr>
        <p:spPr>
          <a:xfrm>
            <a:off x="8169729" y="4747713"/>
            <a:ext cx="3720787" cy="964947"/>
          </a:xfrm>
          <a:prstGeom prst="roundRect">
            <a:avLst>
              <a:gd name="adj" fmla="val 8893"/>
            </a:avLst>
          </a:prstGeom>
          <a:solidFill>
            <a:srgbClr val="FFFFFF">
              <a:alpha val="94900"/>
            </a:srgbClr>
          </a:solidFill>
          <a:ln w="22850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65;p21"/>
          <p:cNvSpPr/>
          <p:nvPr/>
        </p:nvSpPr>
        <p:spPr>
          <a:xfrm>
            <a:off x="8158659" y="4807188"/>
            <a:ext cx="72015" cy="905471"/>
          </a:xfrm>
          <a:prstGeom prst="roundRect">
            <a:avLst>
              <a:gd name="adj" fmla="val 74148"/>
            </a:avLst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266;p21"/>
          <p:cNvSpPr/>
          <p:nvPr/>
        </p:nvSpPr>
        <p:spPr>
          <a:xfrm>
            <a:off x="8410470" y="4746510"/>
            <a:ext cx="3129378" cy="252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50"/>
              <a:buFont typeface="Mona Sans"/>
              <a:buNone/>
            </a:pPr>
            <a:r>
              <a:rPr lang="en-US" sz="15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Phù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hợp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website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tĩnh</a:t>
            </a:r>
            <a:endParaRPr sz="1550" b="0" i="0" u="none" strike="noStrike" cap="none" dirty="0"/>
          </a:p>
        </p:txBody>
      </p:sp>
      <p:sp>
        <p:nvSpPr>
          <p:cNvPr id="31" name="Google Shape;267;p21"/>
          <p:cNvSpPr/>
          <p:nvPr/>
        </p:nvSpPr>
        <p:spPr>
          <a:xfrm>
            <a:off x="8321311" y="5052537"/>
            <a:ext cx="3569206" cy="66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250"/>
              <a:buFont typeface="Funnel Sans"/>
              <a:buNone/>
            </a:pPr>
            <a:r>
              <a:rPr lang="vi-VN" sz="1250" b="0" i="0" u="none" strike="noStrike" cap="none" dirty="0" smtClean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</a:t>
            </a:r>
            <a:r>
              <a:rPr lang="en-US" sz="1250" b="0" i="0" u="none" strike="noStrike" cap="none" dirty="0" smtClean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rang 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web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yêu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cầu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dữ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liệu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động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nhẹ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nhàng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mà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không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cần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hệ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thống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backend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phức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tạp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250" b="0" i="0" u="none" strike="noStrike" cap="none" dirty="0"/>
          </a:p>
        </p:txBody>
      </p:sp>
      <p:pic>
        <p:nvPicPr>
          <p:cNvPr id="32" name="Google Shape;244;p2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5760" y="2311534"/>
            <a:ext cx="687291" cy="740004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245;p21"/>
          <p:cNvSpPr/>
          <p:nvPr/>
        </p:nvSpPr>
        <p:spPr>
          <a:xfrm>
            <a:off x="1935519" y="2311532"/>
            <a:ext cx="2084438" cy="479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50"/>
              <a:buFont typeface="Mona Sans"/>
              <a:buNone/>
            </a:pPr>
            <a:r>
              <a:rPr lang="en-US" sz="1550" b="0" i="0" u="none" strike="noStrike" cap="none" dirty="0" err="1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Nhận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response</a:t>
            </a:r>
            <a:endParaRPr sz="1550" b="0" i="0" u="none" strike="noStrike" cap="none" dirty="0"/>
          </a:p>
        </p:txBody>
      </p:sp>
      <p:sp>
        <p:nvSpPr>
          <p:cNvPr id="34" name="Google Shape;246;p21"/>
          <p:cNvSpPr/>
          <p:nvPr/>
        </p:nvSpPr>
        <p:spPr>
          <a:xfrm>
            <a:off x="1935520" y="2663113"/>
            <a:ext cx="3384009" cy="388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250"/>
              <a:buFont typeface="Funnel Sans"/>
              <a:buNone/>
            </a:pP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Phản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hồi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từ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máy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chủ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chứa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dữ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2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liệu</a:t>
            </a: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250" b="0" i="0" u="none" strike="noStrike" cap="none" dirty="0"/>
          </a:p>
        </p:txBody>
      </p:sp>
    </p:spTree>
    <p:extLst>
      <p:ext uri="{BB962C8B-B14F-4D97-AF65-F5344CB8AC3E}">
        <p14:creationId xmlns:p14="http://schemas.microsoft.com/office/powerpoint/2010/main" val="306118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73;p22"/>
          <p:cNvSpPr/>
          <p:nvPr/>
        </p:nvSpPr>
        <p:spPr>
          <a:xfrm>
            <a:off x="448389" y="352306"/>
            <a:ext cx="3230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500"/>
              <a:buFont typeface="Mona Sans"/>
              <a:buNone/>
            </a:pPr>
            <a:r>
              <a:rPr lang="en-US" sz="25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KẾT QUẢ ĐẠT ĐƯỢC</a:t>
            </a:r>
            <a:endParaRPr sz="2500" b="0" i="0" u="none" strike="noStrike" cap="none" dirty="0"/>
          </a:p>
        </p:txBody>
      </p:sp>
      <p:sp>
        <p:nvSpPr>
          <p:cNvPr id="8" name="Google Shape;277;p22"/>
          <p:cNvSpPr/>
          <p:nvPr/>
        </p:nvSpPr>
        <p:spPr>
          <a:xfrm>
            <a:off x="486794" y="907451"/>
            <a:ext cx="19218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1500"/>
              <a:buFont typeface="Mona Sans"/>
              <a:buNone/>
            </a:pPr>
            <a:r>
              <a:rPr lang="en-US" sz="13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Website </a:t>
            </a:r>
            <a:r>
              <a:rPr lang="en-US" sz="13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hoàn</a:t>
            </a:r>
            <a:r>
              <a:rPr lang="en-US" sz="13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 </a:t>
            </a:r>
            <a:r>
              <a:rPr lang="en-US" sz="1300" b="0" i="0" u="none" strike="noStrike" cap="none" dirty="0" err="1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chỉnh</a:t>
            </a:r>
            <a:endParaRPr sz="1300" b="0" i="0" u="none" strike="noStrike" cap="none" dirty="0"/>
          </a:p>
        </p:txBody>
      </p:sp>
      <p:sp>
        <p:nvSpPr>
          <p:cNvPr id="9" name="Google Shape;278;p22"/>
          <p:cNvSpPr/>
          <p:nvPr/>
        </p:nvSpPr>
        <p:spPr>
          <a:xfrm>
            <a:off x="438898" y="1192151"/>
            <a:ext cx="3920411" cy="274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000"/>
              <a:buFont typeface="Funnel Sans"/>
              <a:buChar char="•"/>
            </a:pP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Giao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diện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hiện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đại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responsive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trên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mọi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thiết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bị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300" b="0" i="0" u="none" strike="noStrike" cap="none" dirty="0"/>
          </a:p>
        </p:txBody>
      </p:sp>
      <p:sp>
        <p:nvSpPr>
          <p:cNvPr id="10" name="Google Shape;279;p22"/>
          <p:cNvSpPr/>
          <p:nvPr/>
        </p:nvSpPr>
        <p:spPr>
          <a:xfrm>
            <a:off x="434270" y="1509033"/>
            <a:ext cx="4047411" cy="26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000"/>
              <a:buFont typeface="Funnel Sans"/>
              <a:buChar char="•"/>
            </a:pP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Dữ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liệu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động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được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lấy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từ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file JSON qua Fetch API.</a:t>
            </a:r>
            <a:endParaRPr sz="1300" b="0" i="0" u="none" strike="noStrike" cap="none" dirty="0"/>
          </a:p>
        </p:txBody>
      </p:sp>
      <p:sp>
        <p:nvSpPr>
          <p:cNvPr id="11" name="Google Shape;280;p22"/>
          <p:cNvSpPr/>
          <p:nvPr/>
        </p:nvSpPr>
        <p:spPr>
          <a:xfrm>
            <a:off x="367257" y="2059806"/>
            <a:ext cx="4082674" cy="293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000"/>
              <a:buFont typeface="Funnel Sans"/>
              <a:buChar char="•"/>
            </a:pP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Tính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năng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tìm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kiếm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lọc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sản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phẩm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giỏ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hàng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hoạt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động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hiệu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quả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300" b="0" i="0" u="none" strike="noStrike" cap="none" dirty="0"/>
          </a:p>
        </p:txBody>
      </p:sp>
      <p:sp>
        <p:nvSpPr>
          <p:cNvPr id="12" name="Google Shape;281;p22"/>
          <p:cNvSpPr/>
          <p:nvPr/>
        </p:nvSpPr>
        <p:spPr>
          <a:xfrm>
            <a:off x="407193" y="2641136"/>
            <a:ext cx="3920411" cy="329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000"/>
              <a:buFont typeface="Funnel Sans"/>
              <a:buChar char="•"/>
            </a:pP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Tốc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độ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tải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trang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nhanh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mang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lại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trải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nghiệm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không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gián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3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đoạn</a:t>
            </a:r>
            <a:r>
              <a:rPr lang="en-US" sz="13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300" b="0" i="0" u="none" strike="noStrike" cap="none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73" b="14153"/>
          <a:stretch/>
        </p:blipFill>
        <p:spPr>
          <a:xfrm>
            <a:off x="8382607" y="762000"/>
            <a:ext cx="3634733" cy="60960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6" t="7688" r="442" b="21068"/>
          <a:stretch/>
        </p:blipFill>
        <p:spPr>
          <a:xfrm>
            <a:off x="458091" y="3258049"/>
            <a:ext cx="3580509" cy="348107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" b="15563"/>
          <a:stretch/>
        </p:blipFill>
        <p:spPr>
          <a:xfrm>
            <a:off x="4531063" y="152946"/>
            <a:ext cx="3508037" cy="582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21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89;p23"/>
          <p:cNvSpPr/>
          <p:nvPr/>
        </p:nvSpPr>
        <p:spPr>
          <a:xfrm>
            <a:off x="1853921" y="78785"/>
            <a:ext cx="8712479" cy="1442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3950"/>
              <a:buFont typeface="Mona Sans"/>
              <a:buNone/>
            </a:pPr>
            <a:r>
              <a:rPr lang="en-US" sz="395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HẠN CHẾ &amp; HƯỚNG PHÁT TRIỂN</a:t>
            </a:r>
            <a:endParaRPr sz="3950" b="0" i="0" u="none" strike="noStrike" cap="none" dirty="0"/>
          </a:p>
        </p:txBody>
      </p:sp>
      <p:sp>
        <p:nvSpPr>
          <p:cNvPr id="6" name="Google Shape;290;p23"/>
          <p:cNvSpPr/>
          <p:nvPr/>
        </p:nvSpPr>
        <p:spPr>
          <a:xfrm>
            <a:off x="727114" y="1123135"/>
            <a:ext cx="11010544" cy="2214043"/>
          </a:xfrm>
          <a:prstGeom prst="roundRect">
            <a:avLst>
              <a:gd name="adj" fmla="val 3951"/>
            </a:avLst>
          </a:prstGeom>
          <a:solidFill>
            <a:srgbClr val="FFFFFF">
              <a:alpha val="94900"/>
            </a:srgbClr>
          </a:solidFill>
          <a:ln w="22850" cap="flat" cmpd="sng">
            <a:solidFill>
              <a:srgbClr val="484E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91;p23"/>
          <p:cNvSpPr/>
          <p:nvPr/>
        </p:nvSpPr>
        <p:spPr>
          <a:xfrm>
            <a:off x="727114" y="1124729"/>
            <a:ext cx="1145677" cy="2166849"/>
          </a:xfrm>
          <a:prstGeom prst="roundRect">
            <a:avLst>
              <a:gd name="adj" fmla="val 7093"/>
            </a:avLst>
          </a:prstGeom>
          <a:solidFill>
            <a:srgbClr val="484E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292;p23"/>
          <p:cNvSpPr/>
          <p:nvPr/>
        </p:nvSpPr>
        <p:spPr>
          <a:xfrm>
            <a:off x="974765" y="2042776"/>
            <a:ext cx="429576" cy="390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50"/>
              <a:buFont typeface="Mona Sans"/>
              <a:buNone/>
            </a:pPr>
            <a:r>
              <a:rPr lang="en-US" sz="2350" b="0" i="0" u="none" strike="noStrike" cap="none">
                <a:solidFill>
                  <a:srgbClr val="FFFFFF"/>
                </a:solidFill>
                <a:latin typeface="Mona Sans"/>
                <a:ea typeface="Mona Sans"/>
                <a:cs typeface="Mona Sans"/>
                <a:sym typeface="Mona Sans"/>
              </a:rPr>
              <a:t>1</a:t>
            </a:r>
            <a:endParaRPr sz="2350" b="0" i="0" u="none" strike="noStrike" cap="none"/>
          </a:p>
        </p:txBody>
      </p:sp>
      <p:sp>
        <p:nvSpPr>
          <p:cNvPr id="9" name="Google Shape;293;p23"/>
          <p:cNvSpPr/>
          <p:nvPr/>
        </p:nvSpPr>
        <p:spPr>
          <a:xfrm>
            <a:off x="2095806" y="1323097"/>
            <a:ext cx="2290927" cy="391517"/>
          </a:xfrm>
          <a:prstGeom prst="roundRect">
            <a:avLst>
              <a:gd name="adj" fmla="val 17876"/>
            </a:avLst>
          </a:prstGeom>
          <a:solidFill>
            <a:srgbClr val="E2E4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94;p23"/>
          <p:cNvSpPr/>
          <p:nvPr/>
        </p:nvSpPr>
        <p:spPr>
          <a:xfrm>
            <a:off x="2280195" y="1364188"/>
            <a:ext cx="1947182" cy="266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250"/>
              <a:buFont typeface="Funnel Sans"/>
              <a:buNone/>
            </a:pP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HẠN CHẾ HIỆN TẠI</a:t>
            </a:r>
            <a:endParaRPr sz="1250" b="0" i="0" u="none" strike="noStrike" cap="none" dirty="0"/>
          </a:p>
        </p:txBody>
      </p:sp>
      <p:sp>
        <p:nvSpPr>
          <p:cNvPr id="11" name="Google Shape;295;p23"/>
          <p:cNvSpPr/>
          <p:nvPr/>
        </p:nvSpPr>
        <p:spPr>
          <a:xfrm>
            <a:off x="2095806" y="1976702"/>
            <a:ext cx="9226908" cy="666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50"/>
              <a:buFont typeface="Funnel Sans"/>
              <a:buNone/>
            </a:pPr>
            <a:r>
              <a:rPr lang="vi-VN" sz="1550" dirty="0" smtClean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Đề tài</a:t>
            </a:r>
            <a:r>
              <a:rPr lang="en-US" sz="1550" b="0" i="0" u="none" strike="noStrike" cap="none" dirty="0" smtClean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hiện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chưa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có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Backend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hoàn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chỉnh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dữ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liệu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còn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ở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dạng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tĩnh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trong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file JSON.</a:t>
            </a:r>
            <a:endParaRPr sz="1550" b="0" i="0" u="none" strike="noStrike" cap="none" dirty="0"/>
          </a:p>
        </p:txBody>
      </p:sp>
      <p:sp>
        <p:nvSpPr>
          <p:cNvPr id="12" name="Google Shape;296;p23"/>
          <p:cNvSpPr/>
          <p:nvPr/>
        </p:nvSpPr>
        <p:spPr>
          <a:xfrm>
            <a:off x="2095806" y="2708660"/>
            <a:ext cx="9226908" cy="333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50"/>
              <a:buFont typeface="Funnel Sans"/>
              <a:buNone/>
            </a:pP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Chưa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tích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hợp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chức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năng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thanh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toán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thực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tế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chỉ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dừng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lại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smtClean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ở</a:t>
            </a:r>
            <a:r>
              <a:rPr lang="vi-VN" sz="1550" b="0" i="0" u="none" strike="noStrike" cap="none" dirty="0" smtClean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thêm vào</a:t>
            </a:r>
            <a:r>
              <a:rPr lang="en-US" sz="1550" b="0" i="0" u="none" strike="noStrike" cap="none" dirty="0" smtClean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giỏ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 smtClean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hàng</a:t>
            </a:r>
            <a:r>
              <a:rPr lang="vi-VN" sz="1550" b="0" i="0" u="none" strike="noStrike" cap="none" dirty="0" smtClean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và xem chi tiết giỏ hàng</a:t>
            </a:r>
            <a:r>
              <a:rPr lang="en-US" sz="1550" b="0" i="0" u="none" strike="noStrike" cap="none" dirty="0" smtClean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550" b="0" i="0" u="none" strike="noStrike" cap="none" dirty="0"/>
          </a:p>
        </p:txBody>
      </p:sp>
      <p:sp>
        <p:nvSpPr>
          <p:cNvPr id="13" name="Google Shape;297;p23"/>
          <p:cNvSpPr/>
          <p:nvPr/>
        </p:nvSpPr>
        <p:spPr>
          <a:xfrm>
            <a:off x="704254" y="3402843"/>
            <a:ext cx="11010544" cy="3338606"/>
          </a:xfrm>
          <a:prstGeom prst="roundRect">
            <a:avLst>
              <a:gd name="adj" fmla="val 2620"/>
            </a:avLst>
          </a:prstGeom>
          <a:solidFill>
            <a:srgbClr val="FFFFFF">
              <a:alpha val="94900"/>
            </a:srgbClr>
          </a:solidFill>
          <a:ln w="22850" cap="flat" cmpd="sng">
            <a:solidFill>
              <a:srgbClr val="7078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298;p23"/>
          <p:cNvSpPr/>
          <p:nvPr/>
        </p:nvSpPr>
        <p:spPr>
          <a:xfrm>
            <a:off x="727114" y="3427296"/>
            <a:ext cx="1145677" cy="3291413"/>
          </a:xfrm>
          <a:prstGeom prst="roundRect">
            <a:avLst>
              <a:gd name="adj" fmla="val 7093"/>
            </a:avLst>
          </a:prstGeom>
          <a:solidFill>
            <a:srgbClr val="7078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299;p23"/>
          <p:cNvSpPr/>
          <p:nvPr/>
        </p:nvSpPr>
        <p:spPr>
          <a:xfrm>
            <a:off x="974765" y="4926588"/>
            <a:ext cx="429576" cy="390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50"/>
              <a:buFont typeface="Mona Sans"/>
              <a:buNone/>
            </a:pPr>
            <a:r>
              <a:rPr lang="en-US" sz="2350" b="0" i="0" u="none" strike="noStrike" cap="none">
                <a:solidFill>
                  <a:srgbClr val="FFFFFF"/>
                </a:solidFill>
                <a:latin typeface="Mona Sans"/>
                <a:ea typeface="Mona Sans"/>
                <a:cs typeface="Mona Sans"/>
                <a:sym typeface="Mona Sans"/>
              </a:rPr>
              <a:t>2</a:t>
            </a:r>
            <a:endParaRPr sz="2350" b="0" i="0" u="none" strike="noStrike" cap="none"/>
          </a:p>
        </p:txBody>
      </p:sp>
      <p:sp>
        <p:nvSpPr>
          <p:cNvPr id="16" name="Google Shape;300;p23"/>
          <p:cNvSpPr/>
          <p:nvPr/>
        </p:nvSpPr>
        <p:spPr>
          <a:xfrm>
            <a:off x="2095806" y="3678755"/>
            <a:ext cx="2494185" cy="391517"/>
          </a:xfrm>
          <a:prstGeom prst="roundRect">
            <a:avLst>
              <a:gd name="adj" fmla="val 17876"/>
            </a:avLst>
          </a:prstGeom>
          <a:solidFill>
            <a:srgbClr val="E2E4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01;p23"/>
          <p:cNvSpPr/>
          <p:nvPr/>
        </p:nvSpPr>
        <p:spPr>
          <a:xfrm>
            <a:off x="2267678" y="3771406"/>
            <a:ext cx="2150440" cy="266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250"/>
              <a:buFont typeface="Funnel Sans"/>
              <a:buNone/>
            </a:pPr>
            <a:r>
              <a:rPr lang="en-US" sz="12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HƯỚNG PHÁT TRIỂN</a:t>
            </a:r>
            <a:endParaRPr sz="1250" b="0" i="0" u="none" strike="noStrike" cap="none" dirty="0"/>
          </a:p>
        </p:txBody>
      </p:sp>
      <p:sp>
        <p:nvSpPr>
          <p:cNvPr id="18" name="Google Shape;302;p23"/>
          <p:cNvSpPr/>
          <p:nvPr/>
        </p:nvSpPr>
        <p:spPr>
          <a:xfrm>
            <a:off x="2095806" y="4346184"/>
            <a:ext cx="9226908" cy="666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50"/>
              <a:buFont typeface="Funnel Sans"/>
              <a:buNone/>
            </a:pP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Kết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nối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Backend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với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MySQL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để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quản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lý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dữ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liệu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động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toàn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diện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bao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gồm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quản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lý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sản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phẩm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</a:t>
            </a:r>
            <a:r>
              <a:rPr lang="en-US" sz="1550" b="0" i="0" u="none" strike="noStrike" cap="none" dirty="0" err="1" smtClean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đơn</a:t>
            </a:r>
            <a:r>
              <a:rPr lang="en-US" sz="1550" b="0" i="0" u="none" strike="noStrike" cap="none" dirty="0" smtClean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hàng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550" b="0" i="0" u="none" strike="noStrike" cap="none" dirty="0"/>
          </a:p>
        </p:txBody>
      </p:sp>
      <p:sp>
        <p:nvSpPr>
          <p:cNvPr id="19" name="Google Shape;303;p23"/>
          <p:cNvSpPr/>
          <p:nvPr/>
        </p:nvSpPr>
        <p:spPr>
          <a:xfrm>
            <a:off x="2095806" y="5098577"/>
            <a:ext cx="9226908" cy="666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50"/>
              <a:buFont typeface="Funnel Sans"/>
              <a:buNone/>
            </a:pP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Thêm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tính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năng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đặt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hàng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thanh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toán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trực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 smtClean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tuyến</a:t>
            </a:r>
            <a:r>
              <a:rPr lang="en-US" sz="1550" b="0" i="0" u="none" strike="noStrike" cap="none" dirty="0" smtClean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550" b="0" i="0" u="none" strike="noStrike" cap="none" dirty="0"/>
          </a:p>
        </p:txBody>
      </p:sp>
      <p:sp>
        <p:nvSpPr>
          <p:cNvPr id="20" name="Google Shape;304;p23"/>
          <p:cNvSpPr/>
          <p:nvPr/>
        </p:nvSpPr>
        <p:spPr>
          <a:xfrm>
            <a:off x="2095806" y="5839270"/>
            <a:ext cx="9226908" cy="666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50"/>
              <a:buFont typeface="Funnel Sans"/>
              <a:buNone/>
            </a:pP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Tiếp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tục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tối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ưu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UX/UI,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nghiên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cứu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hành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vi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người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dùng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để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nâng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cao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trải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nghiệm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mua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55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sắm</a:t>
            </a:r>
            <a:r>
              <a:rPr lang="en-US" sz="155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550" b="0" i="0" u="none" strike="noStrike" cap="none" dirty="0"/>
          </a:p>
        </p:txBody>
      </p:sp>
    </p:spTree>
    <p:extLst>
      <p:ext uri="{BB962C8B-B14F-4D97-AF65-F5344CB8AC3E}">
        <p14:creationId xmlns:p14="http://schemas.microsoft.com/office/powerpoint/2010/main" val="780666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11;p24"/>
          <p:cNvSpPr/>
          <p:nvPr/>
        </p:nvSpPr>
        <p:spPr>
          <a:xfrm>
            <a:off x="4486699" y="253482"/>
            <a:ext cx="5512500" cy="6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300"/>
              <a:buFont typeface="Mona Sans"/>
              <a:buNone/>
            </a:pPr>
            <a:r>
              <a:rPr lang="en-US" sz="4300" b="0" i="0" u="none" strike="noStrike" cap="none" dirty="0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KẾT LUẬN</a:t>
            </a:r>
            <a:endParaRPr sz="4300" b="0" i="0" u="none" strike="noStrike" cap="none" dirty="0"/>
          </a:p>
        </p:txBody>
      </p:sp>
      <p:sp>
        <p:nvSpPr>
          <p:cNvPr id="6" name="Google Shape;312;p24"/>
          <p:cNvSpPr/>
          <p:nvPr/>
        </p:nvSpPr>
        <p:spPr>
          <a:xfrm>
            <a:off x="1990844" y="1514951"/>
            <a:ext cx="3690000" cy="2688300"/>
          </a:xfrm>
          <a:prstGeom prst="roundRect">
            <a:avLst>
              <a:gd name="adj" fmla="val 19685"/>
            </a:avLst>
          </a:prstGeom>
          <a:solidFill>
            <a:srgbClr val="E2E4E9"/>
          </a:solidFill>
          <a:ln w="952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13;p24"/>
          <p:cNvSpPr/>
          <p:nvPr/>
        </p:nvSpPr>
        <p:spPr>
          <a:xfrm>
            <a:off x="2218849" y="1742956"/>
            <a:ext cx="31953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150"/>
              <a:buFont typeface="Mona Sans"/>
              <a:buNone/>
            </a:pPr>
            <a:r>
              <a:rPr lang="en-US" sz="2150" b="0" i="0" u="none" strike="noStrike" cap="non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Đạt được mục tiêu đề ra</a:t>
            </a:r>
            <a:endParaRPr sz="2150" b="0" i="0" u="none" strike="noStrike" cap="none"/>
          </a:p>
        </p:txBody>
      </p:sp>
      <p:sp>
        <p:nvSpPr>
          <p:cNvPr id="8" name="Google Shape;314;p24"/>
          <p:cNvSpPr/>
          <p:nvPr/>
        </p:nvSpPr>
        <p:spPr>
          <a:xfrm>
            <a:off x="2218849" y="2219682"/>
            <a:ext cx="3234000" cy="14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00"/>
              <a:buFont typeface="Funnel Sans"/>
              <a:buNone/>
            </a:pP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Website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trang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sức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tĩnh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với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dữ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liệu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động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đã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hoàn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thành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thể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hiện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khả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năng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ứng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dụng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Fetch API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JSON.</a:t>
            </a:r>
            <a:endParaRPr sz="1700" b="0" i="0" u="none" strike="noStrike" cap="none" dirty="0"/>
          </a:p>
        </p:txBody>
      </p:sp>
      <p:sp>
        <p:nvSpPr>
          <p:cNvPr id="9" name="Google Shape;315;p24"/>
          <p:cNvSpPr/>
          <p:nvPr/>
        </p:nvSpPr>
        <p:spPr>
          <a:xfrm>
            <a:off x="5901333" y="1514951"/>
            <a:ext cx="3690300" cy="2688300"/>
          </a:xfrm>
          <a:prstGeom prst="roundRect">
            <a:avLst>
              <a:gd name="adj" fmla="val 19685"/>
            </a:avLst>
          </a:prstGeom>
          <a:solidFill>
            <a:srgbClr val="E2E4E9"/>
          </a:solidFill>
          <a:ln w="952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16;p24"/>
          <p:cNvSpPr/>
          <p:nvPr/>
        </p:nvSpPr>
        <p:spPr>
          <a:xfrm>
            <a:off x="6129338" y="1742956"/>
            <a:ext cx="32343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150"/>
              <a:buFont typeface="Mona Sans"/>
              <a:buNone/>
            </a:pPr>
            <a:r>
              <a:rPr lang="en-US" sz="2150" b="0" i="0" u="none" strike="noStrike" cap="non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Hiểu rõ Fetch API &amp; JSON</a:t>
            </a:r>
            <a:endParaRPr sz="2150" b="0" i="0" u="none" strike="noStrike" cap="none"/>
          </a:p>
        </p:txBody>
      </p:sp>
      <p:sp>
        <p:nvSpPr>
          <p:cNvPr id="11" name="Google Shape;317;p24"/>
          <p:cNvSpPr/>
          <p:nvPr/>
        </p:nvSpPr>
        <p:spPr>
          <a:xfrm>
            <a:off x="6129338" y="2192846"/>
            <a:ext cx="3234300" cy="14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00"/>
              <a:buFont typeface="Funnel Sans"/>
              <a:buNone/>
            </a:pP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Dự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án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là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cầu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nối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lý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thuyết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và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thực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tiễn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giúp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nắm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vững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cơ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chế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hoạt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động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của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Fetch API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trong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môi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trường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thực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tế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700" b="0" i="0" u="none" strike="noStrike" cap="none" dirty="0"/>
          </a:p>
        </p:txBody>
      </p:sp>
      <p:sp>
        <p:nvSpPr>
          <p:cNvPr id="12" name="Google Shape;318;p24"/>
          <p:cNvSpPr/>
          <p:nvPr/>
        </p:nvSpPr>
        <p:spPr>
          <a:xfrm>
            <a:off x="1990844" y="4423648"/>
            <a:ext cx="7600800" cy="1638300"/>
          </a:xfrm>
          <a:prstGeom prst="roundRect">
            <a:avLst>
              <a:gd name="adj" fmla="val 32302"/>
            </a:avLst>
          </a:prstGeom>
          <a:solidFill>
            <a:srgbClr val="E2E4E9"/>
          </a:solidFill>
          <a:ln w="952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19;p24"/>
          <p:cNvSpPr/>
          <p:nvPr/>
        </p:nvSpPr>
        <p:spPr>
          <a:xfrm>
            <a:off x="2218849" y="4651653"/>
            <a:ext cx="57714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150"/>
              <a:buFont typeface="Mona Sans"/>
              <a:buNone/>
            </a:pPr>
            <a:r>
              <a:rPr lang="en-US" sz="2150" b="0" i="0" u="none" strike="noStrike" cap="non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Phù hợp cho Front-end &amp; doanh nghiệp nhỏ</a:t>
            </a:r>
            <a:endParaRPr sz="2150" b="0" i="0" u="none" strike="noStrike" cap="none"/>
          </a:p>
        </p:txBody>
      </p:sp>
      <p:sp>
        <p:nvSpPr>
          <p:cNvPr id="14" name="Google Shape;320;p24"/>
          <p:cNvSpPr/>
          <p:nvPr/>
        </p:nvSpPr>
        <p:spPr>
          <a:xfrm>
            <a:off x="2218849" y="5128378"/>
            <a:ext cx="7144800" cy="933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00"/>
              <a:buFont typeface="Funnel Sans"/>
              <a:buNone/>
            </a:pP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Cung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cấp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giải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pháp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hiệu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quả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vi-VN" sz="1700" b="0" i="0" u="none" strike="noStrike" cap="none" dirty="0" smtClean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cho doanh </a:t>
            </a:r>
            <a:r>
              <a:rPr lang="en-US" sz="1700" b="0" i="0" u="none" strike="noStrike" cap="none" dirty="0" err="1" smtClean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nghiệp</a:t>
            </a:r>
            <a:r>
              <a:rPr lang="en-US" sz="1700" b="0" i="0" u="none" strike="noStrike" cap="none" dirty="0" smtClean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nhỏ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muốn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có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website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đơn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giản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nhưng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vẫn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tương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tác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lang="en-US" sz="1700" b="0" i="0" u="none" strike="noStrike" cap="none" dirty="0" err="1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tốt</a:t>
            </a:r>
            <a:r>
              <a:rPr lang="en-US" sz="1700" b="0" i="0" u="none" strike="noStrike" cap="none" dirty="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sz="1700" b="0" i="0" u="none" strike="noStrike" cap="none" dirty="0"/>
          </a:p>
        </p:txBody>
      </p:sp>
    </p:spTree>
    <p:extLst>
      <p:ext uri="{BB962C8B-B14F-4D97-AF65-F5344CB8AC3E}">
        <p14:creationId xmlns:p14="http://schemas.microsoft.com/office/powerpoint/2010/main" val="2286925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4500" y="2027534"/>
            <a:ext cx="11074400" cy="180786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CẢM ƠN QUÝ THẦY CÔ ĐÃ LẮNG NGHE</a:t>
            </a:r>
            <a:endParaRPr lang="en-US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913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1510</Words>
  <Application>Microsoft Office PowerPoint</Application>
  <PresentationFormat>Widescreen</PresentationFormat>
  <Paragraphs>135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Funnel Sans</vt:lpstr>
      <vt:lpstr>Mona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YẾN KHOA</dc:creator>
  <cp:lastModifiedBy>YẾN KHOA</cp:lastModifiedBy>
  <cp:revision>15</cp:revision>
  <dcterms:created xsi:type="dcterms:W3CDTF">2026-01-05T04:51:59Z</dcterms:created>
  <dcterms:modified xsi:type="dcterms:W3CDTF">2026-01-05T06:34:02Z</dcterms:modified>
</cp:coreProperties>
</file>